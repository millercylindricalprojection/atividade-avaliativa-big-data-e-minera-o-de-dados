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315" r:id="rId3"/>
    <p:sldId id="365" r:id="rId4"/>
    <p:sldId id="358" r:id="rId5"/>
    <p:sldId id="363" r:id="rId6"/>
    <p:sldId id="362" r:id="rId7"/>
    <p:sldId id="361" r:id="rId8"/>
    <p:sldId id="369" r:id="rId9"/>
    <p:sldId id="370" r:id="rId10"/>
    <p:sldId id="368" r:id="rId11"/>
    <p:sldId id="367" r:id="rId12"/>
    <p:sldId id="371" r:id="rId13"/>
    <p:sldId id="357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A21A"/>
    <a:srgbClr val="4756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Estilo com Tema 1 - Ênfase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8603FDC-E32A-4AB5-989C-0864C3EAD2B8}" styleName="Estilo com Tema 2 - Ênfas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12" autoAdjust="0"/>
    <p:restoredTop sz="94660"/>
  </p:normalViewPr>
  <p:slideViewPr>
    <p:cSldViewPr>
      <p:cViewPr varScale="1">
        <p:scale>
          <a:sx n="106" d="100"/>
          <a:sy n="106" d="100"/>
        </p:scale>
        <p:origin x="432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4FC868-798D-40D1-82D1-0B48FF1A4057}" type="datetimeFigureOut">
              <a:rPr lang="pt-BR" smtClean="0"/>
              <a:pPr/>
              <a:t>07/08/2025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09AEB-F7BD-41C1-A4BC-2580575799F7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1</a:t>
            </a:fld>
            <a:endParaRPr lang="pt-B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1050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70792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3145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03407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9121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418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56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82361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97017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111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09AEB-F7BD-41C1-A4BC-2580575799F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779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F4779-F80B-474A-80BA-2C49CCDEBFA3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D1FCC-CD74-474F-AC35-21A8D77CC95A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A48A05-9AB2-474A-B6DC-3482191A0AC8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DCBFE-4A3D-4625-8FC3-6E982ED071DE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14FC-7F33-4F3D-834F-4A4AA8C16057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E0084-ECBB-473B-B227-A2317F43F877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FF56-A1E0-48C7-B9C8-8A063CEA3994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928A-EAFF-48D3-9109-ACBB7432286D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49E601-DF54-4DFD-A441-5054A6F4E462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E530C-4C9C-496A-9509-D190742F3357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1E97-EBBF-4CBF-83FA-AAEC1286E7C0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Superintendência de Estudos e Pesquisas 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E6FF30-8006-4058-BDA8-E0B9D043BE27}" type="datetime1">
              <a:rPr lang="pt-BR" smtClean="0"/>
              <a:pPr/>
              <a:t>07/08/2025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pt-BR"/>
              <a:t>Superintendência de Estudos e Pesquisas 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38324F-2ABE-43A5-80A0-BD94A143928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hyperlink" Target="https://dados.gov.br/dados/conjuntos-dados/violencia-contra-mulher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www.ibge.gov.br/cidades-e-estados/mg.html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www.tjpr.jus.br/documents/12054912/0/E-Book+Feminicidio_.pdf/ac1f1e60-ee0b-8d83-b191-78a7d99d6269" TargetMode="External"/><Relationship Id="rId4" Type="http://schemas.openxmlformats.org/officeDocument/2006/relationships/hyperlink" Target="https://www.tjpr.jus.br/web/cevid/feminicid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7C60A3BE-B96B-AE49-CAF7-E699976C3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9811" y="-99392"/>
            <a:ext cx="13506571" cy="799288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E05FF5DD-FF27-9644-68B5-E10C1F1669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4680" y="-99392"/>
            <a:ext cx="12264008" cy="7056784"/>
          </a:xfrm>
          <a:prstGeom prst="rect">
            <a:avLst/>
          </a:prstGeom>
        </p:spPr>
      </p:pic>
      <p:sp>
        <p:nvSpPr>
          <p:cNvPr id="5" name="Título 4"/>
          <p:cNvSpPr>
            <a:spLocks noGrp="1"/>
          </p:cNvSpPr>
          <p:nvPr>
            <p:ph type="ctrTitle"/>
          </p:nvPr>
        </p:nvSpPr>
        <p:spPr>
          <a:xfrm>
            <a:off x="-24680" y="1340768"/>
            <a:ext cx="12311336" cy="1470025"/>
          </a:xfrm>
        </p:spPr>
        <p:txBody>
          <a:bodyPr>
            <a:normAutofit fontScale="90000"/>
          </a:bodyPr>
          <a:lstStyle/>
          <a:p>
            <a:r>
              <a:rPr lang="pt-BR" sz="2000" b="1" dirty="0">
                <a:solidFill>
                  <a:schemeClr val="bg1"/>
                </a:solidFill>
              </a:rPr>
              <a:t>ATIVIDADE AVALIATIVA — Big Data e Mineração de Dados</a:t>
            </a:r>
            <a:br>
              <a:rPr lang="pt-BR" sz="2200" dirty="0">
                <a:solidFill>
                  <a:schemeClr val="bg1"/>
                </a:solidFill>
              </a:rPr>
            </a:br>
            <a:br>
              <a:rPr lang="pt-BR" dirty="0">
                <a:solidFill>
                  <a:schemeClr val="bg1"/>
                </a:solidFill>
              </a:rPr>
            </a:br>
            <a:r>
              <a:rPr lang="pt-BR" dirty="0">
                <a:solidFill>
                  <a:schemeClr val="bg1"/>
                </a:solidFill>
              </a:rPr>
              <a:t>Análise de Big Data e Mineração de Dados sobre a Violência Contra a Mulher em Minas Gerais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sz="2800" dirty="0">
                <a:solidFill>
                  <a:schemeClr val="bg1"/>
                </a:solidFill>
              </a:rPr>
              <a:t>João Vitor </a:t>
            </a:r>
            <a:r>
              <a:rPr lang="pt-BR" sz="2800" dirty="0" err="1">
                <a:solidFill>
                  <a:schemeClr val="bg1"/>
                </a:solidFill>
              </a:rPr>
              <a:t>Lehmen</a:t>
            </a:r>
            <a:r>
              <a:rPr lang="pt-BR" sz="2800" dirty="0">
                <a:solidFill>
                  <a:schemeClr val="bg1"/>
                </a:solidFill>
              </a:rPr>
              <a:t> </a:t>
            </a:r>
            <a:r>
              <a:rPr lang="pt-BR" sz="2800" dirty="0" err="1">
                <a:solidFill>
                  <a:schemeClr val="bg1"/>
                </a:solidFill>
              </a:rPr>
              <a:t>Sanmartin</a:t>
            </a:r>
            <a:r>
              <a:rPr lang="pt-BR" sz="2800" dirty="0">
                <a:solidFill>
                  <a:schemeClr val="bg1"/>
                </a:solidFill>
              </a:rPr>
              <a:t> </a:t>
            </a:r>
            <a:br>
              <a:rPr lang="pt-BR" sz="2800" dirty="0">
                <a:solidFill>
                  <a:schemeClr val="bg1"/>
                </a:solidFill>
              </a:rPr>
            </a:br>
            <a:r>
              <a:rPr lang="pt-BR" sz="2800" dirty="0">
                <a:solidFill>
                  <a:schemeClr val="bg1"/>
                </a:solidFill>
              </a:rPr>
              <a:t> Patrik Lima Pereira</a:t>
            </a:r>
            <a:br>
              <a:rPr lang="pt-BR" dirty="0">
                <a:solidFill>
                  <a:schemeClr val="bg1"/>
                </a:solidFill>
              </a:rPr>
            </a:br>
            <a:br>
              <a:rPr lang="pt-BR" sz="2000" b="1" dirty="0">
                <a:solidFill>
                  <a:schemeClr val="bg1"/>
                </a:solidFill>
              </a:rPr>
            </a:br>
            <a:endParaRPr lang="pt-BR" b="1" dirty="0">
              <a:solidFill>
                <a:schemeClr val="bg1"/>
              </a:solidFill>
            </a:endParaRPr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FA73E34-4DF1-7CAF-BC11-690A682E4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5013176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1. Definição do Problema e Escopo – Contextualização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9CC6DE79-9858-4C8E-A03F-1AE47291F1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822" b="9303"/>
          <a:stretch/>
        </p:blipFill>
        <p:spPr>
          <a:xfrm>
            <a:off x="6671834" y="836712"/>
            <a:ext cx="4770106" cy="518457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D78083E-39E4-264C-B37A-63F74B0806A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655" b="13153"/>
          <a:stretch/>
        </p:blipFill>
        <p:spPr>
          <a:xfrm>
            <a:off x="695399" y="836712"/>
            <a:ext cx="4876821" cy="5184576"/>
          </a:xfrm>
          <a:prstGeom prst="rect">
            <a:avLst/>
          </a:prstGeom>
        </p:spPr>
      </p:pic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EC3B1F0F-54F7-101B-D747-EFEA613B12E1}"/>
              </a:ext>
            </a:extLst>
          </p:cNvPr>
          <p:cNvCxnSpPr/>
          <p:nvPr/>
        </p:nvCxnSpPr>
        <p:spPr>
          <a:xfrm flipH="1">
            <a:off x="3359696" y="3429000"/>
            <a:ext cx="1584176" cy="7200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B088D351-5083-26D4-F722-3130E95DFC70}"/>
              </a:ext>
            </a:extLst>
          </p:cNvPr>
          <p:cNvCxnSpPr/>
          <p:nvPr/>
        </p:nvCxnSpPr>
        <p:spPr>
          <a:xfrm flipH="1">
            <a:off x="2567608" y="4265712"/>
            <a:ext cx="1584176" cy="7200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B8ABC4E0-40E0-097F-C38A-CD5C125B9CC2}"/>
              </a:ext>
            </a:extLst>
          </p:cNvPr>
          <p:cNvCxnSpPr/>
          <p:nvPr/>
        </p:nvCxnSpPr>
        <p:spPr>
          <a:xfrm flipH="1">
            <a:off x="3285658" y="5158420"/>
            <a:ext cx="1584176" cy="7200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1E926165-D0E2-F5F9-750D-B85ACB8248B3}"/>
              </a:ext>
            </a:extLst>
          </p:cNvPr>
          <p:cNvCxnSpPr/>
          <p:nvPr/>
        </p:nvCxnSpPr>
        <p:spPr>
          <a:xfrm flipH="1">
            <a:off x="10034282" y="838807"/>
            <a:ext cx="1584176" cy="7200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8DE15920-ACE0-A3E3-BBA3-6DD567C21278}"/>
              </a:ext>
            </a:extLst>
          </p:cNvPr>
          <p:cNvCxnSpPr/>
          <p:nvPr/>
        </p:nvCxnSpPr>
        <p:spPr>
          <a:xfrm flipH="1">
            <a:off x="9418712" y="1511882"/>
            <a:ext cx="1584176" cy="7200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7C2D7A32-1998-EE13-2122-5F79849A0FD6}"/>
              </a:ext>
            </a:extLst>
          </p:cNvPr>
          <p:cNvCxnSpPr/>
          <p:nvPr/>
        </p:nvCxnSpPr>
        <p:spPr>
          <a:xfrm flipH="1">
            <a:off x="8832304" y="3014012"/>
            <a:ext cx="1584176" cy="72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11D3F49B-2D1D-520A-1725-1AC4724A2574}"/>
              </a:ext>
            </a:extLst>
          </p:cNvPr>
          <p:cNvCxnSpPr/>
          <p:nvPr/>
        </p:nvCxnSpPr>
        <p:spPr>
          <a:xfrm>
            <a:off x="1271464" y="2886652"/>
            <a:ext cx="385530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18027C47-DD27-B753-7234-F04A77E2F326}"/>
              </a:ext>
            </a:extLst>
          </p:cNvPr>
          <p:cNvCxnSpPr/>
          <p:nvPr/>
        </p:nvCxnSpPr>
        <p:spPr>
          <a:xfrm>
            <a:off x="1271464" y="2996952"/>
            <a:ext cx="385530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1. Definição do Problema e Escopo – Contextualização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EB18F40-AB6A-A026-A60A-0AEFBCBCFA9C}"/>
              </a:ext>
            </a:extLst>
          </p:cNvPr>
          <p:cNvSpPr txBox="1"/>
          <p:nvPr/>
        </p:nvSpPr>
        <p:spPr>
          <a:xfrm>
            <a:off x="263352" y="930315"/>
            <a:ext cx="11928648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/>
              <a:t>O que é Feminicídio?</a:t>
            </a:r>
          </a:p>
          <a:p>
            <a:pPr algn="just"/>
            <a:r>
              <a:rPr lang="pt-BR" sz="3100" dirty="0"/>
              <a:t>É o homicídio praticado contra a mulher por razões de gênero, resultante de Violência doméstica e familiar, ou Menosprezo ou discriminação à condição de mulher.</a:t>
            </a:r>
          </a:p>
          <a:p>
            <a:pPr algn="just"/>
            <a:endParaRPr lang="pt-BR" sz="3100" dirty="0"/>
          </a:p>
          <a:p>
            <a:pPr algn="just"/>
            <a:r>
              <a:rPr lang="pt-BR" sz="3100" dirty="0"/>
              <a:t>Quando a motivação do crime está no ódio, aversão ou objetificação da mulher, manifestação de misoginia, desprezo ou desumanização .</a:t>
            </a:r>
          </a:p>
          <a:p>
            <a:pPr algn="just"/>
            <a:endParaRPr lang="pt-BR" sz="3100" dirty="0"/>
          </a:p>
          <a:p>
            <a:pPr algn="just"/>
            <a:r>
              <a:rPr lang="pt-BR" sz="3100" dirty="0"/>
              <a:t>O Brasil está entre os países com maior índice de homicídios praticados contra mulheres. (TRIBUNAL DE JUSTIÇA DO ESTADO DO PARANÁ, 2024)</a:t>
            </a:r>
          </a:p>
          <a:p>
            <a:endParaRPr lang="pt-BR" dirty="0"/>
          </a:p>
          <a:p>
            <a:endParaRPr lang="pt-BR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489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1. Definição do Problema e Escopo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EB18F40-AB6A-A026-A60A-0AEFBCBCFA9C}"/>
              </a:ext>
            </a:extLst>
          </p:cNvPr>
          <p:cNvSpPr txBox="1"/>
          <p:nvPr/>
        </p:nvSpPr>
        <p:spPr>
          <a:xfrm>
            <a:off x="263352" y="912197"/>
            <a:ext cx="11928648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/>
              <a:t>Problema de Negócio</a:t>
            </a:r>
            <a:br>
              <a:rPr lang="pt-BR" sz="3200" dirty="0"/>
            </a:br>
            <a:r>
              <a:rPr lang="pt-BR" sz="3200" dirty="0"/>
              <a:t>Alta incidência de crimes e violência contra a mulher, demanda entendimento dos fatores socioeconômicos envolvidos. Gestores públicos têm dificuldade em alocar recursos e criar políticas preventivas baseadas em dados.</a:t>
            </a:r>
          </a:p>
          <a:p>
            <a:endParaRPr lang="pt-BR" sz="2000" dirty="0"/>
          </a:p>
          <a:p>
            <a:r>
              <a:rPr lang="pt-BR" sz="3600" b="1" dirty="0"/>
              <a:t>Objetivo da Solução</a:t>
            </a:r>
            <a:br>
              <a:rPr lang="pt-BR" sz="3200" dirty="0"/>
            </a:br>
            <a:r>
              <a:rPr lang="pt-BR" sz="3200" dirty="0"/>
              <a:t>Desenvolver modelo que relacione indicadores municipais (IDHM, população, densidade, escolarização, PIB per capita) à violência contra a mulher, para identificar padrões e apoiar políticas públicas eficazes.</a:t>
            </a:r>
          </a:p>
          <a:p>
            <a:endParaRPr lang="pt-BR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1365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1. Definição do Problema e Escopo - </a:t>
            </a:r>
            <a:r>
              <a:rPr lang="pt-BR" sz="3200" b="1" dirty="0"/>
              <a:t>Métricas/KPIs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0" name="Tabela 19">
            <a:extLst>
              <a:ext uri="{FF2B5EF4-FFF2-40B4-BE49-F238E27FC236}">
                <a16:creationId xmlns:a16="http://schemas.microsoft.com/office/drawing/2014/main" id="{DA974916-E74B-E832-3D50-BE8F9041A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129669"/>
              </p:ext>
            </p:extLst>
          </p:nvPr>
        </p:nvGraphicFramePr>
        <p:xfrm>
          <a:off x="56781" y="836712"/>
          <a:ext cx="12231908" cy="5112566"/>
        </p:xfrm>
        <a:graphic>
          <a:graphicData uri="http://schemas.openxmlformats.org/drawingml/2006/table">
            <a:tbl>
              <a:tblPr/>
              <a:tblGrid>
                <a:gridCol w="1877597">
                  <a:extLst>
                    <a:ext uri="{9D8B030D-6E8A-4147-A177-3AD203B41FA5}">
                      <a16:colId xmlns:a16="http://schemas.microsoft.com/office/drawing/2014/main" val="1414445989"/>
                    </a:ext>
                  </a:extLst>
                </a:gridCol>
                <a:gridCol w="2975851">
                  <a:extLst>
                    <a:ext uri="{9D8B030D-6E8A-4147-A177-3AD203B41FA5}">
                      <a16:colId xmlns:a16="http://schemas.microsoft.com/office/drawing/2014/main" val="1854428461"/>
                    </a:ext>
                  </a:extLst>
                </a:gridCol>
                <a:gridCol w="7378460">
                  <a:extLst>
                    <a:ext uri="{9D8B030D-6E8A-4147-A177-3AD203B41FA5}">
                      <a16:colId xmlns:a16="http://schemas.microsoft.com/office/drawing/2014/main" val="1598942237"/>
                    </a:ext>
                  </a:extLst>
                </a:gridCol>
              </a:tblGrid>
              <a:tr h="323358">
                <a:tc>
                  <a:txBody>
                    <a:bodyPr/>
                    <a:lstStyle/>
                    <a:p>
                      <a:pPr algn="l"/>
                      <a:r>
                        <a:rPr lang="pt-BR" sz="1500" b="1">
                          <a:effectLst/>
                        </a:rPr>
                        <a:t>Categoria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b="1">
                          <a:effectLst/>
                        </a:rPr>
                        <a:t>Métrica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b="1">
                          <a:effectLst/>
                        </a:rPr>
                        <a:t>Descrição / Finalidade no Projeto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64094"/>
                  </a:ext>
                </a:extLst>
              </a:tr>
              <a:tr h="39266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500" b="1" dirty="0">
                          <a:effectLst/>
                        </a:rPr>
                        <a:t>Socioeconômicas e Demográficas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effectLst/>
                        </a:rPr>
                        <a:t>IDHM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Mede a qualidade de vida para correlacionar com os índices de violência.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26217"/>
                  </a:ext>
                </a:extLst>
              </a:tr>
              <a:tr h="49510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effectLst/>
                        </a:rPr>
                        <a:t>População e Densidade Demográfica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Entender a escala e a concentração populacional, servindo de base para o cálculo de taxas.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06536"/>
                  </a:ext>
                </a:extLst>
              </a:tr>
              <a:tr h="32335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Taxa de Escolarização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effectLst/>
                        </a:rPr>
                        <a:t>Avaliar o nível educacional como um possível fator de influência.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1882259"/>
                  </a:ext>
                </a:extLst>
              </a:tr>
              <a:tr h="39266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PIB per capita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Medir a riqueza média para analisar a relação entre condição econômica e criminalidade.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590405"/>
                  </a:ext>
                </a:extLst>
              </a:tr>
              <a:tr h="39266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500" b="1" dirty="0">
                          <a:effectLst/>
                        </a:rPr>
                        <a:t>Criminalidade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Número de Registros de Violência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Quantificar o volume bruto de ocorrências por município e período.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028877"/>
                  </a:ext>
                </a:extLst>
              </a:tr>
              <a:tr h="561354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Número de Registros de Violência (por 100 mil hab.)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Quantificar o volume de ocorrências por 100 mil habitantes, por município e período.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788777"/>
                  </a:ext>
                </a:extLst>
              </a:tr>
              <a:tr h="39266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effectLst/>
                        </a:rPr>
                        <a:t>Frequência por Tipo de Delito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Identificar os tipos de violência mais prevalentes (Ameaça, Lesão Corporal, etc.).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871883"/>
                  </a:ext>
                </a:extLst>
              </a:tr>
              <a:tr h="39266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Frequência Temporal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Analisar a distribuição dos crimes ao longo de meses e dias para identificar sazonalidades.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4230724"/>
                  </a:ext>
                </a:extLst>
              </a:tr>
              <a:tr h="561354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pt-BR" sz="1500" b="1">
                          <a:effectLst/>
                        </a:rPr>
                        <a:t>Analíticas (Calculadas)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Taxa de Violência por Habitantes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Métrica principal para normalizar os dados, permitindo uma comparação justa entre municípios.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0908753"/>
                  </a:ext>
                </a:extLst>
              </a:tr>
              <a:tr h="32335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Coeficiente de Correlação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Medir estatisticamente a força da relação entre as variáveis.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1185456"/>
                  </a:ext>
                </a:extLst>
              </a:tr>
              <a:tr h="561354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>
                          <a:effectLst/>
                        </a:rPr>
                        <a:t>Padrão de Variação Mensal da Violência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effectLst/>
                        </a:rPr>
                        <a:t>Identificar picos de ocorrências em meses, dia da semana ou feriados específicos.</a:t>
                      </a:r>
                    </a:p>
                  </a:txBody>
                  <a:tcPr marL="40996" marR="40996" marT="40996" marB="409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8099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1137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2. Fontes de Dados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hlinkClick r:id="rId5"/>
            <a:extLst>
              <a:ext uri="{FF2B5EF4-FFF2-40B4-BE49-F238E27FC236}">
                <a16:creationId xmlns:a16="http://schemas.microsoft.com/office/drawing/2014/main" id="{1C3A7FAC-6AB9-24EB-EAFA-374B916277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701" y="842048"/>
            <a:ext cx="4655880" cy="5173902"/>
          </a:xfrm>
          <a:prstGeom prst="rect">
            <a:avLst/>
          </a:prstGeom>
        </p:spPr>
      </p:pic>
      <p:pic>
        <p:nvPicPr>
          <p:cNvPr id="8" name="Imagem 7">
            <a:hlinkClick r:id="rId7"/>
            <a:extLst>
              <a:ext uri="{FF2B5EF4-FFF2-40B4-BE49-F238E27FC236}">
                <a16:creationId xmlns:a16="http://schemas.microsoft.com/office/drawing/2014/main" id="{F15ABC20-8757-11FB-F48F-08FE28F239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4781" y="842049"/>
            <a:ext cx="4660684" cy="517924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1EDB570-57F5-E503-485D-14B99A7DB608}"/>
              </a:ext>
            </a:extLst>
          </p:cNvPr>
          <p:cNvSpPr txBox="1"/>
          <p:nvPr/>
        </p:nvSpPr>
        <p:spPr>
          <a:xfrm>
            <a:off x="119336" y="5622547"/>
            <a:ext cx="5591946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rgbClr val="7030A0"/>
                </a:solidFill>
              </a:rPr>
              <a:t>https://www.ibge.gov.br/cidades-e-estados/mg.html</a:t>
            </a:r>
            <a:endParaRPr lang="pt-BR" sz="1400" dirty="0">
              <a:solidFill>
                <a:srgbClr val="7030A0"/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8BF016A-EBF4-98F3-0977-A8BD41F08BB3}"/>
              </a:ext>
            </a:extLst>
          </p:cNvPr>
          <p:cNvSpPr txBox="1"/>
          <p:nvPr/>
        </p:nvSpPr>
        <p:spPr>
          <a:xfrm>
            <a:off x="6480720" y="5616465"/>
            <a:ext cx="5807968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rgbClr val="7030A0"/>
                </a:solidFill>
              </a:rPr>
              <a:t>https://dados.gov.br/dados/conjuntos-dados/violencia-contra-mulher</a:t>
            </a:r>
            <a:endParaRPr lang="pt-BR" sz="1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377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2. Fontes de Dados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C3A7FAC-6AB9-24EB-EAFA-374B9162770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927"/>
          <a:stretch/>
        </p:blipFill>
        <p:spPr>
          <a:xfrm>
            <a:off x="527701" y="836712"/>
            <a:ext cx="4655880" cy="5179237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15ABC20-8757-11FB-F48F-08FE28F239C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019"/>
          <a:stretch/>
        </p:blipFill>
        <p:spPr>
          <a:xfrm>
            <a:off x="7164781" y="1412775"/>
            <a:ext cx="4660684" cy="4608513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DC3DC264-3835-EF69-22F5-5BC359C85E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36" y="1412776"/>
            <a:ext cx="5905880" cy="3740087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DDF86B76-CE3E-FFAA-F725-24E7CFF49D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4072" y="2007583"/>
            <a:ext cx="5404856" cy="3164023"/>
          </a:xfrm>
          <a:prstGeom prst="rect">
            <a:avLst/>
          </a:prstGeom>
        </p:spPr>
      </p:pic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8EBFE83F-F47A-B9E4-D6CA-80F786C83616}"/>
              </a:ext>
            </a:extLst>
          </p:cNvPr>
          <p:cNvCxnSpPr>
            <a:cxnSpLocks/>
          </p:cNvCxnSpPr>
          <p:nvPr/>
        </p:nvCxnSpPr>
        <p:spPr>
          <a:xfrm flipH="1">
            <a:off x="1582265" y="1165534"/>
            <a:ext cx="4009681" cy="45754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FF306655-9969-C5E4-10FF-60B4510D3A50}"/>
              </a:ext>
            </a:extLst>
          </p:cNvPr>
          <p:cNvSpPr txBox="1"/>
          <p:nvPr/>
        </p:nvSpPr>
        <p:spPr>
          <a:xfrm>
            <a:off x="5711283" y="754556"/>
            <a:ext cx="6217366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7030A0"/>
                </a:solidFill>
              </a:rPr>
              <a:t>Dados com dados estruturados no formado </a:t>
            </a:r>
            <a:r>
              <a:rPr lang="pt-BR" sz="2400" b="1" dirty="0" err="1">
                <a:solidFill>
                  <a:srgbClr val="7030A0"/>
                </a:solidFill>
              </a:rPr>
              <a:t>csv</a:t>
            </a:r>
            <a:endParaRPr lang="pt-BR" dirty="0">
              <a:solidFill>
                <a:srgbClr val="7030A0"/>
              </a:solidFill>
            </a:endParaRPr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186B2CD3-7C59-367F-BC25-D261E346C0FA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7677790" y="1216221"/>
            <a:ext cx="1142176" cy="77619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19778C4C-C62B-6CD5-A1D0-5AFB0EEFB997}"/>
              </a:ext>
            </a:extLst>
          </p:cNvPr>
          <p:cNvSpPr txBox="1"/>
          <p:nvPr/>
        </p:nvSpPr>
        <p:spPr>
          <a:xfrm>
            <a:off x="1714919" y="5255271"/>
            <a:ext cx="1867472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7030A0"/>
                </a:solidFill>
              </a:rPr>
              <a:t>107.598 </a:t>
            </a:r>
            <a:r>
              <a:rPr lang="pt-BR" sz="2400" b="1" dirty="0" err="1">
                <a:solidFill>
                  <a:srgbClr val="7030A0"/>
                </a:solidFill>
              </a:rPr>
              <a:t>kb</a:t>
            </a:r>
            <a:endParaRPr lang="pt-BR" sz="2400" b="1" dirty="0">
              <a:solidFill>
                <a:srgbClr val="7030A0"/>
              </a:solidFill>
            </a:endParaRPr>
          </a:p>
          <a:p>
            <a:pPr algn="ctr"/>
            <a:r>
              <a:rPr lang="pt-BR" sz="2400" b="1" dirty="0">
                <a:solidFill>
                  <a:srgbClr val="7030A0"/>
                </a:solidFill>
              </a:rPr>
              <a:t>10 arquivos</a:t>
            </a:r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4F769A83-150B-2F6F-60ED-F9C6EEE19789}"/>
              </a:ext>
            </a:extLst>
          </p:cNvPr>
          <p:cNvSpPr txBox="1"/>
          <p:nvPr/>
        </p:nvSpPr>
        <p:spPr>
          <a:xfrm>
            <a:off x="8512764" y="5227688"/>
            <a:ext cx="1867472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7030A0"/>
                </a:solidFill>
              </a:rPr>
              <a:t>119 </a:t>
            </a:r>
            <a:r>
              <a:rPr lang="pt-BR" sz="2400" b="1" dirty="0" err="1">
                <a:solidFill>
                  <a:srgbClr val="7030A0"/>
                </a:solidFill>
              </a:rPr>
              <a:t>bkb</a:t>
            </a:r>
            <a:endParaRPr lang="pt-BR" sz="2400" b="1" dirty="0">
              <a:solidFill>
                <a:srgbClr val="7030A0"/>
              </a:solidFill>
            </a:endParaRPr>
          </a:p>
          <a:p>
            <a:pPr algn="ctr"/>
            <a:r>
              <a:rPr lang="pt-BR" sz="2400" b="1" dirty="0">
                <a:solidFill>
                  <a:srgbClr val="7030A0"/>
                </a:solidFill>
              </a:rPr>
              <a:t>1 arquivo</a:t>
            </a:r>
            <a:endParaRPr lang="pt-BR" dirty="0">
              <a:solidFill>
                <a:srgbClr val="7030A0"/>
              </a:solidFill>
            </a:endParaRP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3759D79B-ED8F-68FF-D821-78FB469A2225}"/>
              </a:ext>
            </a:extLst>
          </p:cNvPr>
          <p:cNvCxnSpPr/>
          <p:nvPr/>
        </p:nvCxnSpPr>
        <p:spPr>
          <a:xfrm>
            <a:off x="6600056" y="2996952"/>
            <a:ext cx="129614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AE1BC0D-C7AE-4969-4FEC-0036D5AC58A2}"/>
              </a:ext>
            </a:extLst>
          </p:cNvPr>
          <p:cNvCxnSpPr/>
          <p:nvPr/>
        </p:nvCxnSpPr>
        <p:spPr>
          <a:xfrm>
            <a:off x="119336" y="2924944"/>
            <a:ext cx="129614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1825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3. Exploração e Análise Descritiva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61AB971-0E39-C6D2-EB48-92B634777F36}"/>
              </a:ext>
            </a:extLst>
          </p:cNvPr>
          <p:cNvSpPr txBox="1"/>
          <p:nvPr/>
        </p:nvSpPr>
        <p:spPr>
          <a:xfrm>
            <a:off x="215488" y="1073799"/>
            <a:ext cx="508788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600" b="1" dirty="0" err="1"/>
              <a:t>Dataset</a:t>
            </a:r>
            <a:r>
              <a:rPr lang="pt-BR" sz="2600" b="1" dirty="0"/>
              <a:t> Violência contra a Mulher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904FC80-5C6E-94FD-E767-8FF27C0298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571" y="1749394"/>
            <a:ext cx="11650069" cy="344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08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3. Exploração e Análise Descritiva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61AB971-0E39-C6D2-EB48-92B634777F36}"/>
              </a:ext>
            </a:extLst>
          </p:cNvPr>
          <p:cNvSpPr txBox="1"/>
          <p:nvPr/>
        </p:nvSpPr>
        <p:spPr>
          <a:xfrm>
            <a:off x="215488" y="1073799"/>
            <a:ext cx="508788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600" b="1" dirty="0" err="1"/>
              <a:t>Dataset</a:t>
            </a:r>
            <a:r>
              <a:rPr lang="pt-BR" sz="2600" b="1" dirty="0"/>
              <a:t> Violência </a:t>
            </a:r>
            <a:r>
              <a:rPr lang="pt-BR" sz="2600" b="1" i="0" dirty="0">
                <a:solidFill>
                  <a:srgbClr val="1F1F1F"/>
                </a:solidFill>
                <a:effectLst/>
                <a:latin typeface="+mj-lt"/>
              </a:rPr>
              <a:t>IBGE Cidades</a:t>
            </a:r>
            <a:endParaRPr lang="pt-BR" sz="26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9E8012C-341B-82A4-1134-C9429B5306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99" y="1700808"/>
            <a:ext cx="11801349" cy="3634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50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3. Exploração e Análise Descritiva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65CB011-9BAB-6693-2C87-53452C2CAC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461" r="7284"/>
          <a:stretch/>
        </p:blipFill>
        <p:spPr>
          <a:xfrm>
            <a:off x="354742" y="1941763"/>
            <a:ext cx="6302212" cy="3888432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787DE26-FDBE-56A9-82C2-DB34EB5638C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444" r="29595"/>
          <a:stretch/>
        </p:blipFill>
        <p:spPr>
          <a:xfrm>
            <a:off x="8112224" y="1755198"/>
            <a:ext cx="3433968" cy="4055177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61AB971-0E39-C6D2-EB48-92B634777F36}"/>
              </a:ext>
            </a:extLst>
          </p:cNvPr>
          <p:cNvSpPr txBox="1"/>
          <p:nvPr/>
        </p:nvSpPr>
        <p:spPr>
          <a:xfrm>
            <a:off x="6960096" y="1138638"/>
            <a:ext cx="508788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600" b="1" dirty="0" err="1"/>
              <a:t>Dataset</a:t>
            </a:r>
            <a:r>
              <a:rPr lang="pt-BR" sz="2600" b="1" dirty="0"/>
              <a:t> Violência contra a Mulher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0F6CA2D-EC28-2918-7B1A-57E0184CA696}"/>
              </a:ext>
            </a:extLst>
          </p:cNvPr>
          <p:cNvSpPr txBox="1"/>
          <p:nvPr/>
        </p:nvSpPr>
        <p:spPr>
          <a:xfrm>
            <a:off x="551384" y="1219067"/>
            <a:ext cx="597666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F1F1F"/>
                </a:solidFill>
                <a:effectLst/>
                <a:latin typeface="+mj-lt"/>
              </a:rPr>
              <a:t> </a:t>
            </a:r>
            <a:r>
              <a:rPr lang="pt-BR" sz="2600" b="1" i="0" dirty="0" err="1">
                <a:solidFill>
                  <a:srgbClr val="1F1F1F"/>
                </a:solidFill>
                <a:effectLst/>
                <a:latin typeface="+mj-lt"/>
              </a:rPr>
              <a:t>Dataset</a:t>
            </a:r>
            <a:r>
              <a:rPr lang="pt-BR" sz="2600" b="1" i="0" dirty="0">
                <a:solidFill>
                  <a:srgbClr val="1F1F1F"/>
                </a:solidFill>
                <a:effectLst/>
                <a:latin typeface="+mj-lt"/>
              </a:rPr>
              <a:t> IBGE Cidades</a:t>
            </a:r>
          </a:p>
        </p:txBody>
      </p:sp>
    </p:spTree>
    <p:extLst>
      <p:ext uri="{BB962C8B-B14F-4D97-AF65-F5344CB8AC3E}">
        <p14:creationId xmlns:p14="http://schemas.microsoft.com/office/powerpoint/2010/main" val="958974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3. Exploração e Análise Descritiva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5D38BF9-69B8-16E7-3E8A-36E158C93C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66" t="1330" b="18431"/>
          <a:stretch/>
        </p:blipFill>
        <p:spPr>
          <a:xfrm>
            <a:off x="1343472" y="869722"/>
            <a:ext cx="10199642" cy="27171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6CEF8512-52D9-35EA-2E97-4B5C98E156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3472" y="4159580"/>
            <a:ext cx="10127634" cy="179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018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3. Exploração e Análise Descritiva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17D3EF3-3F3B-F1DA-A26A-668A22DC499B}"/>
              </a:ext>
            </a:extLst>
          </p:cNvPr>
          <p:cNvSpPr txBox="1"/>
          <p:nvPr/>
        </p:nvSpPr>
        <p:spPr>
          <a:xfrm>
            <a:off x="2135560" y="1628800"/>
            <a:ext cx="71646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dirty="0">
                <a:solidFill>
                  <a:srgbClr val="FF0000"/>
                </a:solidFill>
                <a:effectLst/>
                <a:latin typeface="TimesNewRomanPSMT"/>
              </a:rPr>
              <a:t>Utilizar gráficos adequados (barras, histogramas, dispersão) para representar os dados.</a:t>
            </a:r>
            <a:r>
              <a:rPr lang="pt-BR" dirty="0">
                <a:solidFill>
                  <a:srgbClr val="FF0000"/>
                </a:solidFill>
              </a:rPr>
              <a:t> </a:t>
            </a:r>
            <a:br>
              <a:rPr lang="pt-BR" dirty="0">
                <a:solidFill>
                  <a:srgbClr val="FF0000"/>
                </a:solidFill>
              </a:rPr>
            </a:br>
            <a:endParaRPr lang="pt-B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9135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EEEA4E2E-5BB2-3E68-ADE9-9DDED86B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360696" cy="6858000"/>
          </a:xfrm>
          <a:prstGeom prst="rect">
            <a:avLst/>
          </a:prstGeom>
        </p:spPr>
      </p:pic>
      <p:sp>
        <p:nvSpPr>
          <p:cNvPr id="11" name="Título 1"/>
          <p:cNvSpPr>
            <a:spLocks noGrp="1"/>
          </p:cNvSpPr>
          <p:nvPr>
            <p:ph type="title"/>
          </p:nvPr>
        </p:nvSpPr>
        <p:spPr>
          <a:xfrm>
            <a:off x="1981200" y="297011"/>
            <a:ext cx="8229600" cy="868523"/>
          </a:xfrm>
        </p:spPr>
        <p:txBody>
          <a:bodyPr>
            <a:normAutofit fontScale="90000"/>
          </a:bodyPr>
          <a:lstStyle/>
          <a:p>
            <a:r>
              <a:rPr lang="pt-BR" sz="3000" b="1" dirty="0"/>
              <a:t>X. Bibliografia</a:t>
            </a:r>
            <a:br>
              <a:rPr lang="pt-BR" sz="3000" b="1" dirty="0"/>
            </a:br>
            <a:endParaRPr lang="pt-BR" sz="3000" b="1" dirty="0"/>
          </a:p>
        </p:txBody>
      </p:sp>
      <p:sp>
        <p:nvSpPr>
          <p:cNvPr id="2" name="Espaço Reservado para Rodapé 7">
            <a:extLst>
              <a:ext uri="{FF2B5EF4-FFF2-40B4-BE49-F238E27FC236}">
                <a16:creationId xmlns:a16="http://schemas.microsoft.com/office/drawing/2014/main" id="{4FC988C9-7744-1AFC-83D8-337E45D13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1" y="6356351"/>
            <a:ext cx="6085184" cy="365125"/>
          </a:xfrm>
        </p:spPr>
        <p:txBody>
          <a:bodyPr/>
          <a:lstStyle/>
          <a:p>
            <a:r>
              <a:rPr lang="pt-BR" dirty="0"/>
              <a:t>Programa de Residência em Inteligência Artificial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EB18F40-AB6A-A026-A60A-0AEFBCBCFA9C}"/>
              </a:ext>
            </a:extLst>
          </p:cNvPr>
          <p:cNvSpPr txBox="1"/>
          <p:nvPr/>
        </p:nvSpPr>
        <p:spPr>
          <a:xfrm>
            <a:off x="263352" y="930315"/>
            <a:ext cx="11665296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600" dirty="0"/>
              <a:t>TRIBUNAL DE JUSTIÇA DO ESTADO DO PARANÁ. </a:t>
            </a:r>
            <a:r>
              <a:rPr lang="pt-BR" sz="2600" i="1" dirty="0"/>
              <a:t>Feminicídio</a:t>
            </a:r>
            <a:r>
              <a:rPr lang="pt-BR" sz="2600" dirty="0"/>
              <a:t>. Disponível em: </a:t>
            </a:r>
            <a:r>
              <a:rPr lang="pt-BR" sz="2600" dirty="0">
                <a:hlinkClick r:id="rId4"/>
              </a:rPr>
              <a:t>https://www.tjpr.jus.br/web/</a:t>
            </a:r>
            <a:r>
              <a:rPr lang="pt-BR" sz="2600" dirty="0" err="1">
                <a:hlinkClick r:id="rId4"/>
              </a:rPr>
              <a:t>cevid</a:t>
            </a:r>
            <a:r>
              <a:rPr lang="pt-BR" sz="2600" dirty="0">
                <a:hlinkClick r:id="rId4"/>
              </a:rPr>
              <a:t>/</a:t>
            </a:r>
            <a:r>
              <a:rPr lang="pt-BR" sz="2600" dirty="0" err="1">
                <a:hlinkClick r:id="rId4"/>
              </a:rPr>
              <a:t>feminicidio</a:t>
            </a:r>
            <a:r>
              <a:rPr lang="pt-BR" sz="2600" dirty="0"/>
              <a:t>. Acesso em: 6 ago. 2025.</a:t>
            </a:r>
          </a:p>
          <a:p>
            <a:endParaRPr lang="pt-BR" sz="2600" dirty="0"/>
          </a:p>
          <a:p>
            <a:r>
              <a:rPr lang="pt-BR" sz="2600" dirty="0"/>
              <a:t>PARANÁ (Estado). Protocolo para investigar, processar e julgar com perspectiva de gênero as mortes violentas de mulheres (Feminicídios) no Paraná [livro eletrônico]. Curitiba: Governo do Estado do Paraná, 2021. Disponível em: </a:t>
            </a:r>
            <a:r>
              <a:rPr lang="pt-BR" sz="2600" dirty="0">
                <a:hlinkClick r:id="rId5"/>
              </a:rPr>
              <a:t>https://www.tjpr.jus.br/</a:t>
            </a:r>
            <a:r>
              <a:rPr lang="pt-BR" sz="2600" dirty="0" err="1">
                <a:hlinkClick r:id="rId5"/>
              </a:rPr>
              <a:t>documents</a:t>
            </a:r>
            <a:r>
              <a:rPr lang="pt-BR" sz="2600" dirty="0">
                <a:hlinkClick r:id="rId5"/>
              </a:rPr>
              <a:t>/12054912/0/E-Book+Feminicidio_.pdf/ac1f1e60-ee0b-8d83-b191-78a7d99d6269</a:t>
            </a:r>
            <a:r>
              <a:rPr lang="pt-BR" sz="2600" dirty="0"/>
              <a:t>. Acesso em: 6 ago. 2025.</a:t>
            </a:r>
          </a:p>
          <a:p>
            <a:endParaRPr lang="pt-BR" sz="2600" dirty="0"/>
          </a:p>
          <a:p>
            <a:r>
              <a:rPr lang="pt-BR" sz="2600" dirty="0"/>
              <a:t>WAISELFISZ, </a:t>
            </a:r>
            <a:r>
              <a:rPr lang="pt-BR" sz="2600" dirty="0" err="1"/>
              <a:t>Julio</a:t>
            </a:r>
            <a:r>
              <a:rPr lang="pt-BR" sz="2600" dirty="0"/>
              <a:t> Jacobo. Mapa da Violência 2015: homicídio de mulheres no Brasil. Brasília: </a:t>
            </a:r>
            <a:r>
              <a:rPr lang="pt-BR" sz="2600" dirty="0" err="1"/>
              <a:t>Flacso</a:t>
            </a:r>
            <a:r>
              <a:rPr lang="pt-BR" sz="2600" dirty="0"/>
              <a:t> Brasil, 2015.</a:t>
            </a:r>
            <a:endParaRPr lang="pt-BR" dirty="0"/>
          </a:p>
          <a:p>
            <a:endParaRPr lang="pt-BR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DD07E98F-DF62-936F-023C-F5062912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221" y="4934498"/>
            <a:ext cx="2958998" cy="295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142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7584</TotalTime>
  <Words>799</Words>
  <Application>Microsoft Office PowerPoint</Application>
  <PresentationFormat>Widescreen</PresentationFormat>
  <Paragraphs>93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TimesNewRomanPSMT</vt:lpstr>
      <vt:lpstr>Tema do Office</vt:lpstr>
      <vt:lpstr>ATIVIDADE AVALIATIVA — Big Data e Mineração de Dados  Análise de Big Data e Mineração de Dados sobre a Violência Contra a Mulher em Minas Gerais João Vitor Lehmen Sanmartin   Patrik Lima Pereira  </vt:lpstr>
      <vt:lpstr>1. Definição do Problema e Escopo – Contextualização </vt:lpstr>
      <vt:lpstr>1. Definição do Problema e Escopo – Contextualização </vt:lpstr>
      <vt:lpstr>1. Definição do Problema e Escopo </vt:lpstr>
      <vt:lpstr>1. Definição do Problema e Escopo - Métricas/KPIs </vt:lpstr>
      <vt:lpstr>2. Fontes de Dados </vt:lpstr>
      <vt:lpstr>2. Fontes de Dados </vt:lpstr>
      <vt:lpstr>3. Exploração e Análise Descritiva </vt:lpstr>
      <vt:lpstr>3. Exploração e Análise Descritiva </vt:lpstr>
      <vt:lpstr>3. Exploração e Análise Descritiva </vt:lpstr>
      <vt:lpstr>3. Exploração e Análise Descritiva </vt:lpstr>
      <vt:lpstr>3. Exploração e Análise Descritiva </vt:lpstr>
      <vt:lpstr>X. Bibliografia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Título: Modelo de Apresentação</dc:title>
  <dc:creator>Raul</dc:creator>
  <cp:lastModifiedBy>Patrik Lima Pereira</cp:lastModifiedBy>
  <cp:revision>577</cp:revision>
  <dcterms:created xsi:type="dcterms:W3CDTF">2012-03-23T17:40:35Z</dcterms:created>
  <dcterms:modified xsi:type="dcterms:W3CDTF">2025-08-07T08:11:43Z</dcterms:modified>
</cp:coreProperties>
</file>