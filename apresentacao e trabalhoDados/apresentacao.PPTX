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7" r:id="rId2"/>
    <p:sldId id="365" r:id="rId3"/>
    <p:sldId id="372" r:id="rId4"/>
    <p:sldId id="373" r:id="rId5"/>
    <p:sldId id="358" r:id="rId6"/>
    <p:sldId id="363" r:id="rId7"/>
    <p:sldId id="362" r:id="rId8"/>
    <p:sldId id="375" r:id="rId9"/>
    <p:sldId id="376" r:id="rId10"/>
    <p:sldId id="377" r:id="rId11"/>
    <p:sldId id="374" r:id="rId12"/>
    <p:sldId id="369" r:id="rId13"/>
    <p:sldId id="370" r:id="rId14"/>
    <p:sldId id="368" r:id="rId15"/>
    <p:sldId id="371" r:id="rId16"/>
    <p:sldId id="383" r:id="rId17"/>
    <p:sldId id="378" r:id="rId18"/>
    <p:sldId id="379" r:id="rId19"/>
    <p:sldId id="380" r:id="rId20"/>
    <p:sldId id="381" r:id="rId21"/>
    <p:sldId id="382" r:id="rId22"/>
    <p:sldId id="384" r:id="rId23"/>
    <p:sldId id="385" r:id="rId24"/>
    <p:sldId id="387" r:id="rId25"/>
    <p:sldId id="388" r:id="rId26"/>
    <p:sldId id="386" r:id="rId27"/>
    <p:sldId id="389" r:id="rId28"/>
    <p:sldId id="390" r:id="rId29"/>
    <p:sldId id="357" r:id="rId3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1A21A"/>
    <a:srgbClr val="4756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Estilo com Tema 1 - Ênfase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8603FDC-E32A-4AB5-989C-0864C3EAD2B8}" styleName="Estilo com Tema 2 - Ênfase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585" autoAdjust="0"/>
    <p:restoredTop sz="94660"/>
  </p:normalViewPr>
  <p:slideViewPr>
    <p:cSldViewPr>
      <p:cViewPr varScale="1">
        <p:scale>
          <a:sx n="106" d="100"/>
          <a:sy n="106" d="100"/>
        </p:scale>
        <p:origin x="372" y="-59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4FC868-798D-40D1-82D1-0B48FF1A4057}" type="datetimeFigureOut">
              <a:rPr lang="pt-BR" smtClean="0"/>
              <a:pPr/>
              <a:t>07/08/2025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009AEB-F7BD-41C1-A4BC-2580575799F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009AEB-F7BD-41C1-A4BC-2580575799F7}" type="slidenum">
              <a:rPr lang="pt-BR" smtClean="0"/>
              <a:pPr/>
              <a:t>1</a:t>
            </a:fld>
            <a:endParaRPr 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009AEB-F7BD-41C1-A4BC-2580575799F7}" type="slidenum">
              <a:rPr lang="pt-BR" smtClean="0"/>
              <a:pPr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10505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C0A35-4350-8B0E-09AA-D97AE5497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AC7D93D-B937-D436-45FE-AE951F126C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F23CD59-C15C-9225-8C91-92F21375B9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B2B70CA-6414-8E98-9E44-7DAD9D411C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009AEB-F7BD-41C1-A4BC-2580575799F7}" type="slidenum">
              <a:rPr lang="pt-BR" smtClean="0"/>
              <a:pPr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76113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51EA-C50C-7752-0D40-D0AA3AE5F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439EF38-6B60-8FDA-6A69-5B3D268C2B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D7410C1-7858-3032-7F21-1D051DE1F2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C008846-1272-CB65-9B41-CE945F7184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009AEB-F7BD-41C1-A4BC-2580575799F7}" type="slidenum">
              <a:rPr lang="pt-BR" smtClean="0"/>
              <a:pPr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14702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009AEB-F7BD-41C1-A4BC-2580575799F7}" type="slidenum">
              <a:rPr lang="pt-BR" smtClean="0"/>
              <a:pPr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70792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009AEB-F7BD-41C1-A4BC-2580575799F7}" type="slidenum">
              <a:rPr lang="pt-BR" smtClean="0"/>
              <a:pPr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31453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009AEB-F7BD-41C1-A4BC-2580575799F7}" type="slidenum">
              <a:rPr lang="pt-BR" smtClean="0"/>
              <a:pPr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03407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85ED6-C3B7-C21E-F766-1FAB8DEAF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E5DC11E-7F93-74F9-42E2-D7F0DE35AB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0042078-86E6-6F88-0DD4-BA3EC1FC8D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1A47C49-1DCB-559E-366F-DAEDF4ED4E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009AEB-F7BD-41C1-A4BC-2580575799F7}" type="slidenum">
              <a:rPr lang="pt-BR" smtClean="0"/>
              <a:pPr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2412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B3111-038D-E073-0F83-EFDE7007F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8381E6C-E124-9876-1E17-C547899897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474672C-896F-0F7E-5A76-2CC0C1D69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CB5F5E2-5A6A-59A0-9838-89182D982B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009AEB-F7BD-41C1-A4BC-2580575799F7}" type="slidenum">
              <a:rPr lang="pt-BR" smtClean="0"/>
              <a:pPr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39161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4F1D6-4A1D-4FD2-40D4-DF964891F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25B9829-2E90-3C5E-C046-9EFCB7CCEC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8909880-EF23-6381-0498-196F30DAA9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9E560D6-8567-2D33-0BEE-C1B17233C4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009AEB-F7BD-41C1-A4BC-2580575799F7}" type="slidenum">
              <a:rPr lang="pt-BR" smtClean="0"/>
              <a:pPr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01275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383E8-4141-3612-2CA8-3FA50752F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B2B888E-37BD-C64A-CD53-6092C8DCC5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AA0398D-5A85-6918-E99C-19B4C00464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8255F91-B137-9AA3-7576-5F2C5A4019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009AEB-F7BD-41C1-A4BC-2580575799F7}" type="slidenum">
              <a:rPr lang="pt-BR" smtClean="0"/>
              <a:pPr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42415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009AEB-F7BD-41C1-A4BC-2580575799F7}" type="slidenum">
              <a:rPr lang="pt-BR" smtClean="0"/>
              <a:pPr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4418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009AEB-F7BD-41C1-A4BC-2580575799F7}" type="slidenum">
              <a:rPr lang="pt-BR" smtClean="0"/>
              <a:pPr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60562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009AEB-F7BD-41C1-A4BC-2580575799F7}" type="slidenum">
              <a:rPr lang="pt-BR" smtClean="0"/>
              <a:pPr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82361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009AEB-F7BD-41C1-A4BC-2580575799F7}" type="slidenum">
              <a:rPr lang="pt-BR" smtClean="0"/>
              <a:pPr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61112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316B5-0C61-65A4-9BD9-313DFE6F4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1DB9F72-A428-BD2F-A0F0-9F4FA976A2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A419D5B-5846-4040-B230-3541280021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B3C6925-4CEC-E68F-6668-480F0EA73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009AEB-F7BD-41C1-A4BC-2580575799F7}" type="slidenum">
              <a:rPr lang="pt-BR" smtClean="0"/>
              <a:pPr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32541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2AAFE-B42F-153A-CAC4-32A5D1FF9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D8280A8-64D4-6E8A-6DB3-A0485654B4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D70EB00-E10B-E0E3-0042-6CE03F163D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FF9D25A-AAC0-CCC0-3C4D-E9837E399B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009AEB-F7BD-41C1-A4BC-2580575799F7}" type="slidenum">
              <a:rPr lang="pt-BR" smtClean="0"/>
              <a:pPr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02844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731C0-BE6B-6E14-6257-E9B8CBA94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385BE65-AC67-3401-4D48-2F5C945EC3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FBD68FC-9201-89F5-5446-E1DAEF2106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2BC0DE9-C3E4-3F9C-F2DD-73914CB68E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009AEB-F7BD-41C1-A4BC-2580575799F7}" type="slidenum">
              <a:rPr lang="pt-BR" smtClean="0"/>
              <a:pPr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30169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52CDB-B00D-F9DF-83B3-15FA5DEDD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02C3A05-FB42-0567-10DC-9A8AA1F9DC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3AD003B-0CB0-1B7C-677C-53FB43887A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E723B23-5A2C-0AD7-B988-637F679E77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009AEB-F7BD-41C1-A4BC-2580575799F7}" type="slidenum">
              <a:rPr lang="pt-BR" smtClean="0"/>
              <a:pPr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55006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09A4B-EEEF-3FBA-E299-68D2B587B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40DFD92-9C26-7E6B-09AA-A911F0948E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7247937-2E53-A2F5-9C94-972FBA40C1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C800E1F-7240-C41E-0BF5-EC87DFBAD4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009AEB-F7BD-41C1-A4BC-2580575799F7}" type="slidenum">
              <a:rPr lang="pt-BR" smtClean="0"/>
              <a:pPr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52501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82A07-BFA9-69FF-A663-7B114B3A1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6A06949-BF93-2569-7962-71BEF82D01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EBC85F2-3B99-F7B3-6C53-786DC8E1D9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0889CB2-E32E-E752-4B9A-D84501C425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009AEB-F7BD-41C1-A4BC-2580575799F7}" type="slidenum">
              <a:rPr lang="pt-BR" smtClean="0"/>
              <a:pPr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6981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E2054-CA30-3304-A918-FD0EF6905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A71527B-A6D3-667C-47A0-16812803AD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A1ECF92-26A1-62D8-7050-33819429EB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EFB1801-BBAD-D510-0DDA-92492032C0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009AEB-F7BD-41C1-A4BC-2580575799F7}" type="slidenum">
              <a:rPr lang="pt-BR" smtClean="0"/>
              <a:pPr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74690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E2054-CA30-3304-A918-FD0EF6905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A71527B-A6D3-667C-47A0-16812803AD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A1ECF92-26A1-62D8-7050-33819429EB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EFB1801-BBAD-D510-0DDA-92492032C0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009AEB-F7BD-41C1-A4BC-2580575799F7}" type="slidenum">
              <a:rPr lang="pt-BR" smtClean="0"/>
              <a:pPr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59795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E2054-CA30-3304-A918-FD0EF6905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A71527B-A6D3-667C-47A0-16812803AD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A1ECF92-26A1-62D8-7050-33819429EB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EFB1801-BBAD-D510-0DDA-92492032C0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009AEB-F7BD-41C1-A4BC-2580575799F7}" type="slidenum">
              <a:rPr lang="pt-BR" smtClean="0"/>
              <a:pPr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784428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E2054-CA30-3304-A918-FD0EF6905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A71527B-A6D3-667C-47A0-16812803AD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A1ECF92-26A1-62D8-7050-33819429EB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EFB1801-BBAD-D510-0DDA-92492032C0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009AEB-F7BD-41C1-A4BC-2580575799F7}" type="slidenum">
              <a:rPr lang="pt-BR" smtClean="0"/>
              <a:pPr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351941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E2054-CA30-3304-A918-FD0EF6905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A71527B-A6D3-667C-47A0-16812803AD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A1ECF92-26A1-62D8-7050-33819429EB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EFB1801-BBAD-D510-0DDA-92492032C0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009AEB-F7BD-41C1-A4BC-2580575799F7}" type="slidenum">
              <a:rPr lang="pt-BR" smtClean="0"/>
              <a:pPr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872852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E2054-CA30-3304-A918-FD0EF6905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A71527B-A6D3-667C-47A0-16812803AD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A1ECF92-26A1-62D8-7050-33819429EB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EFB1801-BBAD-D510-0DDA-92492032C0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009AEB-F7BD-41C1-A4BC-2580575799F7}" type="slidenum">
              <a:rPr lang="pt-BR" smtClean="0"/>
              <a:pPr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374731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E2054-CA30-3304-A918-FD0EF6905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A71527B-A6D3-667C-47A0-16812803AD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A1ECF92-26A1-62D8-7050-33819429EB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EFB1801-BBAD-D510-0DDA-92492032C0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009AEB-F7BD-41C1-A4BC-2580575799F7}" type="slidenum">
              <a:rPr lang="pt-BR" smtClean="0"/>
              <a:pPr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442651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009AEB-F7BD-41C1-A4BC-2580575799F7}" type="slidenum">
              <a:rPr lang="pt-BR" smtClean="0"/>
              <a:pPr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6779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F4779-F80B-474A-80BA-2C49CCDEBFA3}" type="datetime1">
              <a:rPr lang="pt-BR" smtClean="0"/>
              <a:pPr/>
              <a:t>07/08/2025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Superintendência de Estudos e Pesquisas 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8324F-2ABE-43A5-80A0-BD94A143928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D1FCC-CD74-474F-AC35-21A8D77CC95A}" type="datetime1">
              <a:rPr lang="pt-BR" smtClean="0"/>
              <a:pPr/>
              <a:t>07/08/2025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Superintendência de Estudos e Pesquisas 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8324F-2ABE-43A5-80A0-BD94A143928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48A05-9AB2-474A-B6DC-3482191A0AC8}" type="datetime1">
              <a:rPr lang="pt-BR" smtClean="0"/>
              <a:pPr/>
              <a:t>07/08/2025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Superintendência de Estudos e Pesquisas 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8324F-2ABE-43A5-80A0-BD94A143928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DCBFE-4A3D-4625-8FC3-6E982ED071DE}" type="datetime1">
              <a:rPr lang="pt-BR" smtClean="0"/>
              <a:pPr/>
              <a:t>07/08/2025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Superintendência de Estudos e Pesquisas 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8324F-2ABE-43A5-80A0-BD94A143928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914FC-7F33-4F3D-834F-4A4AA8C16057}" type="datetime1">
              <a:rPr lang="pt-BR" smtClean="0"/>
              <a:pPr/>
              <a:t>07/08/2025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Superintendência de Estudos e Pesquisas </a:t>
            </a: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8324F-2ABE-43A5-80A0-BD94A143928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E0084-ECBB-473B-B227-A2317F43F877}" type="datetime1">
              <a:rPr lang="pt-BR" smtClean="0"/>
              <a:pPr/>
              <a:t>07/08/2025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Superintendência de Estudos e Pesquisas 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8324F-2ABE-43A5-80A0-BD94A143928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EFF56-A1E0-48C7-B9C8-8A063CEA3994}" type="datetime1">
              <a:rPr lang="pt-BR" smtClean="0"/>
              <a:pPr/>
              <a:t>07/08/2025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Superintendência de Estudos e Pesquisas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8324F-2ABE-43A5-80A0-BD94A143928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928A-EAFF-48D3-9109-ACBB7432286D}" type="datetime1">
              <a:rPr lang="pt-BR" smtClean="0"/>
              <a:pPr/>
              <a:t>07/08/2025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Superintendência de Estudos e Pesquisas 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8324F-2ABE-43A5-80A0-BD94A143928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9E601-DF54-4DFD-A441-5054A6F4E462}" type="datetime1">
              <a:rPr lang="pt-BR" smtClean="0"/>
              <a:pPr/>
              <a:t>07/08/2025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Superintendência de Estudos e Pesquisas 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8324F-2ABE-43A5-80A0-BD94A143928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E530C-4C9C-496A-9509-D190742F3357}" type="datetime1">
              <a:rPr lang="pt-BR" smtClean="0"/>
              <a:pPr/>
              <a:t>07/08/2025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Superintendência de Estudos e Pesquisas 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8324F-2ABE-43A5-80A0-BD94A143928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C1E97-EBBF-4CBF-83FA-AAEC1286E7C0}" type="datetime1">
              <a:rPr lang="pt-BR" smtClean="0"/>
              <a:pPr/>
              <a:t>07/08/2025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Superintendência de Estudos e Pesquisas 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8324F-2ABE-43A5-80A0-BD94A143928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E6FF30-8006-4058-BDA8-E0B9D043BE27}" type="datetime1">
              <a:rPr lang="pt-BR" smtClean="0"/>
              <a:pPr/>
              <a:t>07/08/2025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Superintendência de Estudos e Pesquisas 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38324F-2ABE-43A5-80A0-BD94A143928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hyperlink" Target="https://dados.gov.br/dados/conjuntos-dados/violencia-contra-mulher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hyperlink" Target="https://www.ibge.gov.br/cidades-e-estados/mg.html" TargetMode="Externa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4.png"/><Relationship Id="rId7" Type="http://schemas.openxmlformats.org/officeDocument/2006/relationships/image" Target="../media/image34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jpe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.png"/><Relationship Id="rId9" Type="http://schemas.openxmlformats.org/officeDocument/2006/relationships/image" Target="../media/image36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hyperlink" Target="https://sites.uel.br/lesfem/monitor-brasil/" TargetMode="External"/><Relationship Id="rId3" Type="http://schemas.openxmlformats.org/officeDocument/2006/relationships/image" Target="../media/image4.png"/><Relationship Id="rId7" Type="http://schemas.openxmlformats.org/officeDocument/2006/relationships/hyperlink" Target="https://dossies.agenciapatriciagalvao.org.br/feminicidio/capitulos/o-que-e-feminicidio/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ov.br/mulheres/pt-br/central-de-conteudos/publicacoes/raseam-2025.pdf/view" TargetMode="External"/><Relationship Id="rId5" Type="http://schemas.openxmlformats.org/officeDocument/2006/relationships/hyperlink" Target="https://www.tjpr.jus.br/documents/12054912/0/E-Book+Feminicidio_.pdf/ac1f1e60-ee0b-8d83-b191-78a7d99d6269" TargetMode="External"/><Relationship Id="rId4" Type="http://schemas.openxmlformats.org/officeDocument/2006/relationships/hyperlink" Target="https://www.tjpr.jus.br/web/cevid/feminicidio" TargetMode="External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Uma imagem contendo 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7C60A3BE-B96B-AE49-CAF7-E699976C3D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9811" y="-99392"/>
            <a:ext cx="13506571" cy="7992888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E05FF5DD-FF27-9644-68B5-E10C1F1669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69811" y="122822"/>
            <a:ext cx="13506571" cy="7056784"/>
          </a:xfrm>
          <a:prstGeom prst="rect">
            <a:avLst/>
          </a:prstGeom>
        </p:spPr>
      </p:pic>
      <p:sp>
        <p:nvSpPr>
          <p:cNvPr id="5" name="Título 4"/>
          <p:cNvSpPr>
            <a:spLocks noGrp="1"/>
          </p:cNvSpPr>
          <p:nvPr>
            <p:ph type="ctrTitle"/>
          </p:nvPr>
        </p:nvSpPr>
        <p:spPr>
          <a:xfrm>
            <a:off x="-34351" y="398474"/>
            <a:ext cx="12311336" cy="2448272"/>
          </a:xfrm>
        </p:spPr>
        <p:txBody>
          <a:bodyPr>
            <a:normAutofit fontScale="90000"/>
          </a:bodyPr>
          <a:lstStyle/>
          <a:p>
            <a:br>
              <a:rPr lang="pt-BR" sz="2000" b="1" dirty="0">
                <a:solidFill>
                  <a:schemeClr val="bg1"/>
                </a:solidFill>
              </a:rPr>
            </a:br>
            <a:br>
              <a:rPr lang="pt-BR" dirty="0">
                <a:solidFill>
                  <a:schemeClr val="bg1"/>
                </a:solidFill>
              </a:rPr>
            </a:br>
            <a:r>
              <a:rPr lang="pt-BR" sz="3600" dirty="0">
                <a:solidFill>
                  <a:schemeClr val="bg1"/>
                </a:solidFill>
              </a:rPr>
              <a:t>Análise de Indicadores Socioeconômicos e a Violência contra a Mulher no estado de Minas Gerais: Uma Abordagem com Big Data e Mineração de Dados</a:t>
            </a:r>
            <a:br>
              <a:rPr lang="pt-BR" dirty="0">
                <a:solidFill>
                  <a:schemeClr val="bg1"/>
                </a:solidFill>
              </a:rPr>
            </a:br>
            <a:br>
              <a:rPr lang="pt-BR" dirty="0">
                <a:solidFill>
                  <a:schemeClr val="bg1"/>
                </a:solidFill>
              </a:rPr>
            </a:br>
            <a:br>
              <a:rPr lang="pt-BR" sz="2000" b="1" dirty="0">
                <a:solidFill>
                  <a:schemeClr val="bg1"/>
                </a:solidFill>
              </a:rPr>
            </a:br>
            <a:endParaRPr lang="pt-BR" b="1" dirty="0">
              <a:solidFill>
                <a:schemeClr val="bg1"/>
              </a:solidFill>
            </a:endParaRPr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2855641" y="6356351"/>
            <a:ext cx="6085184" cy="365125"/>
          </a:xfrm>
        </p:spPr>
        <p:txBody>
          <a:bodyPr/>
          <a:lstStyle/>
          <a:p>
            <a:r>
              <a:rPr lang="pt-BR" sz="2000" b="1" dirty="0">
                <a:solidFill>
                  <a:schemeClr val="tx1"/>
                </a:solidFill>
              </a:rPr>
              <a:t>Programa de Residência em Inteligência Artificial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9FA73E34-4DF1-7CAF-BC11-690A682E4D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0740" y="5157192"/>
            <a:ext cx="2808312" cy="28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BA41FB27-8D11-12A0-B762-172D885A06EE}"/>
              </a:ext>
            </a:extLst>
          </p:cNvPr>
          <p:cNvSpPr txBox="1"/>
          <p:nvPr/>
        </p:nvSpPr>
        <p:spPr>
          <a:xfrm>
            <a:off x="3224848" y="2327722"/>
            <a:ext cx="591725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</a:rPr>
              <a:t>Curso: Pós-Graduação em Inteligência Artificial Aplicada</a:t>
            </a:r>
          </a:p>
          <a:p>
            <a:r>
              <a:rPr lang="pt-BR" sz="1800" b="1" dirty="0">
                <a:solidFill>
                  <a:schemeClr val="bg1"/>
                </a:solidFill>
              </a:rPr>
              <a:t>Unidade Curricular: Big Data e Mineração de Dados</a:t>
            </a:r>
          </a:p>
          <a:p>
            <a:r>
              <a:rPr lang="pt-BR" sz="1800" b="1" dirty="0">
                <a:solidFill>
                  <a:schemeClr val="bg1"/>
                </a:solidFill>
              </a:rPr>
              <a:t>Professor: Willian Daniel de Mattos</a:t>
            </a:r>
          </a:p>
          <a:p>
            <a:r>
              <a:rPr lang="pt-BR" sz="1800" b="1" dirty="0">
                <a:solidFill>
                  <a:schemeClr val="bg1"/>
                </a:solidFill>
              </a:rPr>
              <a:t>Alunos: João Vitor </a:t>
            </a:r>
            <a:r>
              <a:rPr lang="pt-BR" sz="1800" b="1" dirty="0" err="1">
                <a:solidFill>
                  <a:schemeClr val="bg1"/>
                </a:solidFill>
              </a:rPr>
              <a:t>Lehmen</a:t>
            </a:r>
            <a:r>
              <a:rPr lang="pt-BR" sz="1800" b="1" dirty="0">
                <a:solidFill>
                  <a:schemeClr val="bg1"/>
                </a:solidFill>
              </a:rPr>
              <a:t> </a:t>
            </a:r>
            <a:r>
              <a:rPr lang="pt-BR" sz="1800" b="1" dirty="0" err="1">
                <a:solidFill>
                  <a:schemeClr val="bg1"/>
                </a:solidFill>
              </a:rPr>
              <a:t>Sanmartin</a:t>
            </a:r>
            <a:r>
              <a:rPr lang="pt-BR" sz="1800" b="1" dirty="0">
                <a:solidFill>
                  <a:schemeClr val="bg1"/>
                </a:solidFill>
              </a:rPr>
              <a:t> e Patrik Lima Pereira</a:t>
            </a:r>
            <a:endParaRPr lang="pt-BR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EEEA4E2E-5BB2-3E68-ADE9-9DDED86B1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360696" cy="6858000"/>
          </a:xfrm>
          <a:prstGeom prst="rect">
            <a:avLst/>
          </a:prstGeom>
        </p:spPr>
      </p:pic>
      <p:sp>
        <p:nvSpPr>
          <p:cNvPr id="11" name="Título 1"/>
          <p:cNvSpPr>
            <a:spLocks noGrp="1"/>
          </p:cNvSpPr>
          <p:nvPr>
            <p:ph type="title"/>
          </p:nvPr>
        </p:nvSpPr>
        <p:spPr>
          <a:xfrm>
            <a:off x="1981200" y="297011"/>
            <a:ext cx="8229600" cy="868523"/>
          </a:xfrm>
        </p:spPr>
        <p:txBody>
          <a:bodyPr>
            <a:normAutofit fontScale="90000"/>
          </a:bodyPr>
          <a:lstStyle/>
          <a:p>
            <a:r>
              <a:rPr lang="pt-BR" sz="3000" b="1" dirty="0"/>
              <a:t>1. Definição do Problema e Escopo – Contextualização</a:t>
            </a:r>
            <a:br>
              <a:rPr lang="pt-BR" sz="3000" b="1" dirty="0"/>
            </a:br>
            <a:endParaRPr lang="pt-BR" sz="3000" b="1" dirty="0"/>
          </a:p>
        </p:txBody>
      </p:sp>
      <p:sp>
        <p:nvSpPr>
          <p:cNvPr id="2" name="Espaço Reservado para Rodapé 7">
            <a:extLst>
              <a:ext uri="{FF2B5EF4-FFF2-40B4-BE49-F238E27FC236}">
                <a16:creationId xmlns:a16="http://schemas.microsoft.com/office/drawing/2014/main" id="{4FC988C9-7744-1AFC-83D8-337E45D13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5641" y="6356351"/>
            <a:ext cx="6085184" cy="365125"/>
          </a:xfrm>
        </p:spPr>
        <p:txBody>
          <a:bodyPr/>
          <a:lstStyle/>
          <a:p>
            <a:r>
              <a:rPr lang="pt-BR" dirty="0"/>
              <a:t>Programa de Residência em Inteligência Artificial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EB18F40-AB6A-A026-A60A-0AEFBCBCFA9C}"/>
              </a:ext>
            </a:extLst>
          </p:cNvPr>
          <p:cNvSpPr txBox="1"/>
          <p:nvPr/>
        </p:nvSpPr>
        <p:spPr>
          <a:xfrm>
            <a:off x="263352" y="930315"/>
            <a:ext cx="11928648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3600" b="1" dirty="0"/>
          </a:p>
          <a:p>
            <a:r>
              <a:rPr lang="pt-BR" sz="3600" b="1" dirty="0"/>
              <a:t>O que é Feminicídio?</a:t>
            </a:r>
          </a:p>
          <a:p>
            <a:pPr algn="just"/>
            <a:r>
              <a:rPr lang="pt-BR" sz="3100" dirty="0"/>
              <a:t>Segundo o Código Penal, feminicídio é “o assassinato de uma mulher cometido por razões da condição de sexo feminino”, isto é, quando o crime envolve: “violência doméstica e familiar e/ou menosprezo ou discriminação à condição de mulher”.</a:t>
            </a:r>
            <a:endParaRPr lang="pt-BR" dirty="0"/>
          </a:p>
          <a:p>
            <a:endParaRPr lang="pt-BR" dirty="0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DD07E98F-DF62-936F-023C-F50629127B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6221" y="4934498"/>
            <a:ext cx="2958998" cy="2958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6489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F3021-F2E6-2482-ED66-AA8648817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7A5001AE-1B53-BAF2-53EF-CC583F44B9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360696" cy="6858000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A092B4B4-EED5-BC85-C04B-4EEC6B4A8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97011"/>
            <a:ext cx="8229600" cy="868523"/>
          </a:xfrm>
        </p:spPr>
        <p:txBody>
          <a:bodyPr>
            <a:normAutofit fontScale="90000"/>
          </a:bodyPr>
          <a:lstStyle/>
          <a:p>
            <a:r>
              <a:rPr lang="pt-BR" sz="3000" b="1" dirty="0"/>
              <a:t>1. Definição do Problema e Escopo – Contextualização</a:t>
            </a:r>
            <a:br>
              <a:rPr lang="pt-BR" sz="3000" b="1" dirty="0"/>
            </a:br>
            <a:endParaRPr lang="pt-BR" sz="3000" b="1" dirty="0"/>
          </a:p>
        </p:txBody>
      </p:sp>
      <p:sp>
        <p:nvSpPr>
          <p:cNvPr id="2" name="Espaço Reservado para Rodapé 7">
            <a:extLst>
              <a:ext uri="{FF2B5EF4-FFF2-40B4-BE49-F238E27FC236}">
                <a16:creationId xmlns:a16="http://schemas.microsoft.com/office/drawing/2014/main" id="{5CD56C68-6648-CB84-B716-43D333874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5641" y="6356351"/>
            <a:ext cx="6085184" cy="365125"/>
          </a:xfrm>
        </p:spPr>
        <p:txBody>
          <a:bodyPr/>
          <a:lstStyle/>
          <a:p>
            <a:r>
              <a:rPr lang="pt-BR" dirty="0"/>
              <a:t>Programa de Residência em Inteligência Artificial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820A31F-6934-C3A4-48E5-85048E76DB19}"/>
              </a:ext>
            </a:extLst>
          </p:cNvPr>
          <p:cNvSpPr txBox="1"/>
          <p:nvPr/>
        </p:nvSpPr>
        <p:spPr>
          <a:xfrm>
            <a:off x="263352" y="930315"/>
            <a:ext cx="11928648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pt-BR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/>
              <a:t>O Brasil está entre os países com maior índice de homicídios praticados contra mulheres. (TRIBUNAL DE JUSTIÇA DO ESTADO DO PARANÁ, 2024)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/>
              <a:t>Segundo o  Relatório Anual Socioeconômico da Mulher (</a:t>
            </a:r>
            <a:r>
              <a:rPr lang="pt-BR" sz="2800" dirty="0" err="1"/>
              <a:t>Raseam</a:t>
            </a:r>
            <a:r>
              <a:rPr lang="pt-BR" sz="2800" dirty="0"/>
              <a:t> - 2025), em 2024, foram registrados 1.450 casos de feminicídio e 2.485 casos de homicídios doloso e lesão corporal seguidas de morte de mulheres.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/>
              <a:t>A cada 6 horas é registrado um assassinato de mulher em nosso país.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endParaRPr lang="pt-BR" dirty="0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2610154D-BBB5-05EE-3783-BF01A4BC9D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6221" y="4934498"/>
            <a:ext cx="2958998" cy="2958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5346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0635E-EFA3-4D9A-7439-E620CD077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779A49BF-C15F-10B9-CD92-1023298722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4348" y="46166"/>
            <a:ext cx="12360696" cy="6858000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A802F84B-54D8-44B1-325C-CE300DE8D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97011"/>
            <a:ext cx="8229600" cy="868523"/>
          </a:xfrm>
        </p:spPr>
        <p:txBody>
          <a:bodyPr>
            <a:normAutofit fontScale="90000"/>
          </a:bodyPr>
          <a:lstStyle/>
          <a:p>
            <a:r>
              <a:rPr lang="pt-BR" sz="3000" b="1" dirty="0"/>
              <a:t>1. Definição do Problema e Escopo – Contextualização</a:t>
            </a:r>
            <a:br>
              <a:rPr lang="pt-BR" sz="3000" b="1" dirty="0"/>
            </a:br>
            <a:endParaRPr lang="pt-BR" sz="3000" b="1" dirty="0"/>
          </a:p>
        </p:txBody>
      </p:sp>
      <p:sp>
        <p:nvSpPr>
          <p:cNvPr id="2" name="Espaço Reservado para Rodapé 7">
            <a:extLst>
              <a:ext uri="{FF2B5EF4-FFF2-40B4-BE49-F238E27FC236}">
                <a16:creationId xmlns:a16="http://schemas.microsoft.com/office/drawing/2014/main" id="{3D8E1536-DD60-FFCD-11AA-B7F5DE7FD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5641" y="6356351"/>
            <a:ext cx="6085184" cy="365125"/>
          </a:xfrm>
        </p:spPr>
        <p:txBody>
          <a:bodyPr/>
          <a:lstStyle/>
          <a:p>
            <a:r>
              <a:rPr lang="pt-BR" dirty="0"/>
              <a:t>Programa de Residência em Inteligência Artificial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97CBD6E7-7A9A-85B3-CB6E-8E52C7B736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6221" y="4934498"/>
            <a:ext cx="2958998" cy="2958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B4E440F-D55A-7B3F-8C61-83E7949D4E8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2019"/>
          <a:stretch>
            <a:fillRect/>
          </a:stretch>
        </p:blipFill>
        <p:spPr>
          <a:xfrm>
            <a:off x="839416" y="1237817"/>
            <a:ext cx="6738940" cy="4171188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78E387EA-D513-DE1D-22E3-D30FA9939AC8}"/>
              </a:ext>
            </a:extLst>
          </p:cNvPr>
          <p:cNvSpPr txBox="1"/>
          <p:nvPr/>
        </p:nvSpPr>
        <p:spPr>
          <a:xfrm>
            <a:off x="1118752" y="5425408"/>
            <a:ext cx="61802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1" dirty="0"/>
              <a:t>Fonte</a:t>
            </a:r>
            <a:r>
              <a:rPr lang="pt-BR" dirty="0"/>
              <a:t>: Monitor de Feminicídios no Brasil (MFB) – LESFEM/UEL, 2024</a:t>
            </a:r>
            <a:endParaRPr lang="pt-BR" sz="1800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98382F27-D8ED-42FB-0D87-915EAFEB6638}"/>
              </a:ext>
            </a:extLst>
          </p:cNvPr>
          <p:cNvSpPr txBox="1"/>
          <p:nvPr/>
        </p:nvSpPr>
        <p:spPr>
          <a:xfrm>
            <a:off x="7497064" y="2173664"/>
            <a:ext cx="4779284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400" b="1" dirty="0"/>
              <a:t>São Paulo, Paraná e Minas Gerais lideram em números absolutos.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400" b="1" dirty="0"/>
              <a:t>185 feminicídios foram consumados no estado de MG em 2024, ficando atrás somente de São Paulo (285).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400" b="1" dirty="0"/>
              <a:t>366 feminicídios foram tentados ou consumados em MG em 2024.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pt-BR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2238358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EEEA4E2E-5BB2-3E68-ADE9-9DDED86B1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360696" cy="6858000"/>
          </a:xfrm>
          <a:prstGeom prst="rect">
            <a:avLst/>
          </a:prstGeom>
        </p:spPr>
      </p:pic>
      <p:sp>
        <p:nvSpPr>
          <p:cNvPr id="11" name="Título 1"/>
          <p:cNvSpPr>
            <a:spLocks noGrp="1"/>
          </p:cNvSpPr>
          <p:nvPr>
            <p:ph type="title"/>
          </p:nvPr>
        </p:nvSpPr>
        <p:spPr>
          <a:xfrm>
            <a:off x="1981200" y="297011"/>
            <a:ext cx="8229600" cy="868523"/>
          </a:xfrm>
        </p:spPr>
        <p:txBody>
          <a:bodyPr>
            <a:normAutofit fontScale="90000"/>
          </a:bodyPr>
          <a:lstStyle/>
          <a:p>
            <a:r>
              <a:rPr lang="pt-BR" sz="3000" b="1" dirty="0"/>
              <a:t>1. Definição do Problema e Escopo</a:t>
            </a:r>
            <a:br>
              <a:rPr lang="pt-BR" sz="3000" b="1" dirty="0"/>
            </a:br>
            <a:endParaRPr lang="pt-BR" sz="3000" b="1" dirty="0"/>
          </a:p>
        </p:txBody>
      </p:sp>
      <p:sp>
        <p:nvSpPr>
          <p:cNvPr id="2" name="Espaço Reservado para Rodapé 7">
            <a:extLst>
              <a:ext uri="{FF2B5EF4-FFF2-40B4-BE49-F238E27FC236}">
                <a16:creationId xmlns:a16="http://schemas.microsoft.com/office/drawing/2014/main" id="{4FC988C9-7744-1AFC-83D8-337E45D13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5641" y="6356351"/>
            <a:ext cx="6085184" cy="365125"/>
          </a:xfrm>
        </p:spPr>
        <p:txBody>
          <a:bodyPr/>
          <a:lstStyle/>
          <a:p>
            <a:r>
              <a:rPr lang="pt-BR" dirty="0"/>
              <a:t>Programa de Residência em Inteligência Artificial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EB18F40-AB6A-A026-A60A-0AEFBCBCFA9C}"/>
              </a:ext>
            </a:extLst>
          </p:cNvPr>
          <p:cNvSpPr txBox="1"/>
          <p:nvPr/>
        </p:nvSpPr>
        <p:spPr>
          <a:xfrm>
            <a:off x="263352" y="912197"/>
            <a:ext cx="11928648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/>
              <a:t>Problema de Negócio</a:t>
            </a:r>
            <a:br>
              <a:rPr lang="pt-BR" sz="3200" dirty="0"/>
            </a:br>
            <a:r>
              <a:rPr lang="pt-BR" sz="3200" dirty="0"/>
              <a:t>Diante dessa realidade alarmante apresentada, gestores públicos enfrentam o desafio de alocar recursos de forma eficaz e implementar políticas de prevenção à violência contra mulher. </a:t>
            </a:r>
          </a:p>
          <a:p>
            <a:endParaRPr lang="pt-BR" sz="3200" b="1" dirty="0"/>
          </a:p>
          <a:p>
            <a:r>
              <a:rPr lang="pt-BR" sz="3600" b="1" dirty="0"/>
              <a:t>Objetivo da Solução</a:t>
            </a:r>
            <a:br>
              <a:rPr lang="pt-BR" sz="3200" dirty="0"/>
            </a:br>
            <a:r>
              <a:rPr lang="pt-BR" sz="3200" dirty="0"/>
              <a:t>Desenvolver modelo que relacione indicadores municipais (IDHM, população, densidade, escolarização, PIB per capita) à violência contra a mulher, para identificar padrões e apoiar políticas públicas eficazes.</a:t>
            </a:r>
          </a:p>
          <a:p>
            <a:endParaRPr lang="pt-BR" dirty="0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DD07E98F-DF62-936F-023C-F50629127B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6221" y="4934498"/>
            <a:ext cx="2958998" cy="2958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1365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EEEA4E2E-5BB2-3E68-ADE9-9DDED86B1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360696" cy="6858000"/>
          </a:xfrm>
          <a:prstGeom prst="rect">
            <a:avLst/>
          </a:prstGeom>
        </p:spPr>
      </p:pic>
      <p:sp>
        <p:nvSpPr>
          <p:cNvPr id="11" name="Título 1"/>
          <p:cNvSpPr>
            <a:spLocks noGrp="1"/>
          </p:cNvSpPr>
          <p:nvPr>
            <p:ph type="title"/>
          </p:nvPr>
        </p:nvSpPr>
        <p:spPr>
          <a:xfrm>
            <a:off x="1981200" y="297011"/>
            <a:ext cx="8229600" cy="868523"/>
          </a:xfrm>
        </p:spPr>
        <p:txBody>
          <a:bodyPr>
            <a:normAutofit fontScale="90000"/>
          </a:bodyPr>
          <a:lstStyle/>
          <a:p>
            <a:r>
              <a:rPr lang="pt-BR" sz="3000" b="1" dirty="0"/>
              <a:t>1. Definição do Problema e Escopo - </a:t>
            </a:r>
            <a:r>
              <a:rPr lang="pt-BR" sz="3200" b="1" dirty="0"/>
              <a:t>Métricas/KPIs</a:t>
            </a:r>
            <a:br>
              <a:rPr lang="pt-BR" sz="3000" b="1" dirty="0"/>
            </a:br>
            <a:endParaRPr lang="pt-BR" sz="3000" b="1" dirty="0"/>
          </a:p>
        </p:txBody>
      </p:sp>
      <p:sp>
        <p:nvSpPr>
          <p:cNvPr id="2" name="Espaço Reservado para Rodapé 7">
            <a:extLst>
              <a:ext uri="{FF2B5EF4-FFF2-40B4-BE49-F238E27FC236}">
                <a16:creationId xmlns:a16="http://schemas.microsoft.com/office/drawing/2014/main" id="{4FC988C9-7744-1AFC-83D8-337E45D13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5641" y="6356351"/>
            <a:ext cx="6085184" cy="365125"/>
          </a:xfrm>
        </p:spPr>
        <p:txBody>
          <a:bodyPr/>
          <a:lstStyle/>
          <a:p>
            <a:r>
              <a:rPr lang="pt-BR" dirty="0"/>
              <a:t>Programa de Residência em Inteligência Artificial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DD07E98F-DF62-936F-023C-F50629127B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6221" y="4934498"/>
            <a:ext cx="2958998" cy="2958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0" name="Tabela 19">
            <a:extLst>
              <a:ext uri="{FF2B5EF4-FFF2-40B4-BE49-F238E27FC236}">
                <a16:creationId xmlns:a16="http://schemas.microsoft.com/office/drawing/2014/main" id="{DA974916-E74B-E832-3D50-BE8F9041A9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9129669"/>
              </p:ext>
            </p:extLst>
          </p:nvPr>
        </p:nvGraphicFramePr>
        <p:xfrm>
          <a:off x="56781" y="836712"/>
          <a:ext cx="12231908" cy="5112566"/>
        </p:xfrm>
        <a:graphic>
          <a:graphicData uri="http://schemas.openxmlformats.org/drawingml/2006/table">
            <a:tbl>
              <a:tblPr/>
              <a:tblGrid>
                <a:gridCol w="1877597">
                  <a:extLst>
                    <a:ext uri="{9D8B030D-6E8A-4147-A177-3AD203B41FA5}">
                      <a16:colId xmlns:a16="http://schemas.microsoft.com/office/drawing/2014/main" val="1414445989"/>
                    </a:ext>
                  </a:extLst>
                </a:gridCol>
                <a:gridCol w="2975851">
                  <a:extLst>
                    <a:ext uri="{9D8B030D-6E8A-4147-A177-3AD203B41FA5}">
                      <a16:colId xmlns:a16="http://schemas.microsoft.com/office/drawing/2014/main" val="1854428461"/>
                    </a:ext>
                  </a:extLst>
                </a:gridCol>
                <a:gridCol w="7378460">
                  <a:extLst>
                    <a:ext uri="{9D8B030D-6E8A-4147-A177-3AD203B41FA5}">
                      <a16:colId xmlns:a16="http://schemas.microsoft.com/office/drawing/2014/main" val="1598942237"/>
                    </a:ext>
                  </a:extLst>
                </a:gridCol>
              </a:tblGrid>
              <a:tr h="323358">
                <a:tc>
                  <a:txBody>
                    <a:bodyPr/>
                    <a:lstStyle/>
                    <a:p>
                      <a:pPr algn="l"/>
                      <a:r>
                        <a:rPr lang="pt-BR" sz="1500" b="1">
                          <a:effectLst/>
                        </a:rPr>
                        <a:t>Categoria</a:t>
                      </a:r>
                    </a:p>
                  </a:txBody>
                  <a:tcPr marL="40996" marR="40996" marT="40996" marB="4099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500" b="1">
                          <a:effectLst/>
                        </a:rPr>
                        <a:t>Métrica</a:t>
                      </a:r>
                    </a:p>
                  </a:txBody>
                  <a:tcPr marL="40996" marR="40996" marT="40996" marB="4099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500" b="1">
                          <a:effectLst/>
                        </a:rPr>
                        <a:t>Descrição / Finalidade no Projeto</a:t>
                      </a:r>
                    </a:p>
                  </a:txBody>
                  <a:tcPr marL="40996" marR="40996" marT="40996" marB="4099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164094"/>
                  </a:ext>
                </a:extLst>
              </a:tr>
              <a:tr h="392666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pt-BR" sz="1500" b="1" dirty="0">
                          <a:effectLst/>
                        </a:rPr>
                        <a:t>Socioeconômicas e Demográficas</a:t>
                      </a:r>
                    </a:p>
                  </a:txBody>
                  <a:tcPr marL="40996" marR="40996" marT="40996" marB="4099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500" dirty="0">
                          <a:effectLst/>
                        </a:rPr>
                        <a:t>IDHM</a:t>
                      </a:r>
                    </a:p>
                  </a:txBody>
                  <a:tcPr marL="40996" marR="40996" marT="40996" marB="4099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500">
                          <a:effectLst/>
                        </a:rPr>
                        <a:t>Mede a qualidade de vida para correlacionar com os índices de violência.</a:t>
                      </a:r>
                    </a:p>
                  </a:txBody>
                  <a:tcPr marL="40996" marR="40996" marT="40996" marB="4099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1526217"/>
                  </a:ext>
                </a:extLst>
              </a:tr>
              <a:tr h="4951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500" dirty="0">
                          <a:effectLst/>
                        </a:rPr>
                        <a:t>População e Densidade Demográfica</a:t>
                      </a:r>
                    </a:p>
                  </a:txBody>
                  <a:tcPr marL="40996" marR="40996" marT="40996" marB="4099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500">
                          <a:effectLst/>
                        </a:rPr>
                        <a:t>Entender a escala e a concentração populacional, servindo de base para o cálculo de taxas.</a:t>
                      </a:r>
                    </a:p>
                  </a:txBody>
                  <a:tcPr marL="40996" marR="40996" marT="40996" marB="4099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106536"/>
                  </a:ext>
                </a:extLst>
              </a:tr>
              <a:tr h="323358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500">
                          <a:effectLst/>
                        </a:rPr>
                        <a:t>Taxa de Escolarização</a:t>
                      </a:r>
                    </a:p>
                  </a:txBody>
                  <a:tcPr marL="40996" marR="40996" marT="40996" marB="4099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500" dirty="0">
                          <a:effectLst/>
                        </a:rPr>
                        <a:t>Avaliar o nível educacional como um possível fator de influência.</a:t>
                      </a:r>
                    </a:p>
                  </a:txBody>
                  <a:tcPr marL="40996" marR="40996" marT="40996" marB="4099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1882259"/>
                  </a:ext>
                </a:extLst>
              </a:tr>
              <a:tr h="392666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500">
                          <a:effectLst/>
                        </a:rPr>
                        <a:t>PIB per capita</a:t>
                      </a:r>
                    </a:p>
                  </a:txBody>
                  <a:tcPr marL="40996" marR="40996" marT="40996" marB="4099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500">
                          <a:effectLst/>
                        </a:rPr>
                        <a:t>Medir a riqueza média para analisar a relação entre condição econômica e criminalidade.</a:t>
                      </a:r>
                    </a:p>
                  </a:txBody>
                  <a:tcPr marL="40996" marR="40996" marT="40996" marB="4099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8590405"/>
                  </a:ext>
                </a:extLst>
              </a:tr>
              <a:tr h="392666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pt-BR" sz="1500" b="1" dirty="0">
                          <a:effectLst/>
                        </a:rPr>
                        <a:t>Criminalidade</a:t>
                      </a:r>
                    </a:p>
                  </a:txBody>
                  <a:tcPr marL="40996" marR="40996" marT="40996" marB="4099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500">
                          <a:effectLst/>
                        </a:rPr>
                        <a:t>Número de Registros de Violência</a:t>
                      </a:r>
                    </a:p>
                  </a:txBody>
                  <a:tcPr marL="40996" marR="40996" marT="40996" marB="4099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500">
                          <a:effectLst/>
                        </a:rPr>
                        <a:t>Quantificar o volume bruto de ocorrências por município e período.</a:t>
                      </a:r>
                    </a:p>
                  </a:txBody>
                  <a:tcPr marL="40996" marR="40996" marT="40996" marB="4099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9028877"/>
                  </a:ext>
                </a:extLst>
              </a:tr>
              <a:tr h="561354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500">
                          <a:effectLst/>
                        </a:rPr>
                        <a:t>Número de Registros de Violência (por 100 mil hab.)</a:t>
                      </a:r>
                    </a:p>
                  </a:txBody>
                  <a:tcPr marL="40996" marR="40996" marT="40996" marB="4099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500">
                          <a:effectLst/>
                        </a:rPr>
                        <a:t>Quantificar o volume de ocorrências por 100 mil habitantes, por município e período.</a:t>
                      </a:r>
                    </a:p>
                  </a:txBody>
                  <a:tcPr marL="40996" marR="40996" marT="40996" marB="4099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788777"/>
                  </a:ext>
                </a:extLst>
              </a:tr>
              <a:tr h="392666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500" dirty="0">
                          <a:effectLst/>
                        </a:rPr>
                        <a:t>Frequência por Tipo de Delito</a:t>
                      </a:r>
                    </a:p>
                  </a:txBody>
                  <a:tcPr marL="40996" marR="40996" marT="40996" marB="4099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500">
                          <a:effectLst/>
                        </a:rPr>
                        <a:t>Identificar os tipos de violência mais prevalentes (Ameaça, Lesão Corporal, etc.).</a:t>
                      </a:r>
                    </a:p>
                  </a:txBody>
                  <a:tcPr marL="40996" marR="40996" marT="40996" marB="4099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7871883"/>
                  </a:ext>
                </a:extLst>
              </a:tr>
              <a:tr h="392666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500">
                          <a:effectLst/>
                        </a:rPr>
                        <a:t>Frequência Temporal</a:t>
                      </a:r>
                    </a:p>
                  </a:txBody>
                  <a:tcPr marL="40996" marR="40996" marT="40996" marB="4099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500" dirty="0">
                          <a:effectLst/>
                        </a:rPr>
                        <a:t>Analisar a distribuição dos crimes ao longo de meses e dias para identificar sazonalidades.</a:t>
                      </a:r>
                    </a:p>
                  </a:txBody>
                  <a:tcPr marL="40996" marR="40996" marT="40996" marB="4099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4230724"/>
                  </a:ext>
                </a:extLst>
              </a:tr>
              <a:tr h="561354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pt-BR" sz="1500" b="1">
                          <a:effectLst/>
                        </a:rPr>
                        <a:t>Analíticas (Calculadas)</a:t>
                      </a:r>
                    </a:p>
                  </a:txBody>
                  <a:tcPr marL="40996" marR="40996" marT="40996" marB="4099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500">
                          <a:effectLst/>
                        </a:rPr>
                        <a:t>Taxa de Violência por Habitantes</a:t>
                      </a:r>
                    </a:p>
                  </a:txBody>
                  <a:tcPr marL="40996" marR="40996" marT="40996" marB="4099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500">
                          <a:effectLst/>
                        </a:rPr>
                        <a:t>Métrica principal para normalizar os dados, permitindo uma comparação justa entre municípios.</a:t>
                      </a:r>
                    </a:p>
                  </a:txBody>
                  <a:tcPr marL="40996" marR="40996" marT="40996" marB="4099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0908753"/>
                  </a:ext>
                </a:extLst>
              </a:tr>
              <a:tr h="323358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500">
                          <a:effectLst/>
                        </a:rPr>
                        <a:t>Coeficiente de Correlação</a:t>
                      </a:r>
                    </a:p>
                  </a:txBody>
                  <a:tcPr marL="40996" marR="40996" marT="40996" marB="4099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500">
                          <a:effectLst/>
                        </a:rPr>
                        <a:t>Medir estatisticamente a força da relação entre as variáveis.</a:t>
                      </a:r>
                    </a:p>
                  </a:txBody>
                  <a:tcPr marL="40996" marR="40996" marT="40996" marB="4099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1185456"/>
                  </a:ext>
                </a:extLst>
              </a:tr>
              <a:tr h="561354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500">
                          <a:effectLst/>
                        </a:rPr>
                        <a:t>Padrão de Variação Mensal da Violência</a:t>
                      </a:r>
                    </a:p>
                  </a:txBody>
                  <a:tcPr marL="40996" marR="40996" marT="40996" marB="4099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500" dirty="0">
                          <a:effectLst/>
                        </a:rPr>
                        <a:t>Identificar picos de ocorrências em meses, dia da semana ou feriados específicos.</a:t>
                      </a:r>
                    </a:p>
                  </a:txBody>
                  <a:tcPr marL="40996" marR="40996" marT="40996" marB="40996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8099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1137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EEEA4E2E-5BB2-3E68-ADE9-9DDED86B1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360696" cy="6858000"/>
          </a:xfrm>
          <a:prstGeom prst="rect">
            <a:avLst/>
          </a:prstGeom>
        </p:spPr>
      </p:pic>
      <p:sp>
        <p:nvSpPr>
          <p:cNvPr id="11" name="Título 1"/>
          <p:cNvSpPr>
            <a:spLocks noGrp="1"/>
          </p:cNvSpPr>
          <p:nvPr>
            <p:ph type="title"/>
          </p:nvPr>
        </p:nvSpPr>
        <p:spPr>
          <a:xfrm>
            <a:off x="1981200" y="297011"/>
            <a:ext cx="8229600" cy="868523"/>
          </a:xfrm>
        </p:spPr>
        <p:txBody>
          <a:bodyPr>
            <a:normAutofit fontScale="90000"/>
          </a:bodyPr>
          <a:lstStyle/>
          <a:p>
            <a:r>
              <a:rPr lang="pt-BR" sz="3000" b="1" dirty="0"/>
              <a:t>2. Fontes de Dados</a:t>
            </a:r>
            <a:br>
              <a:rPr lang="pt-BR" sz="3000" b="1" dirty="0"/>
            </a:br>
            <a:endParaRPr lang="pt-BR" sz="3000" b="1" dirty="0"/>
          </a:p>
        </p:txBody>
      </p:sp>
      <p:sp>
        <p:nvSpPr>
          <p:cNvPr id="2" name="Espaço Reservado para Rodapé 7">
            <a:extLst>
              <a:ext uri="{FF2B5EF4-FFF2-40B4-BE49-F238E27FC236}">
                <a16:creationId xmlns:a16="http://schemas.microsoft.com/office/drawing/2014/main" id="{4FC988C9-7744-1AFC-83D8-337E45D13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5641" y="6356351"/>
            <a:ext cx="6085184" cy="365125"/>
          </a:xfrm>
        </p:spPr>
        <p:txBody>
          <a:bodyPr/>
          <a:lstStyle/>
          <a:p>
            <a:r>
              <a:rPr lang="pt-BR" dirty="0"/>
              <a:t>Programa de Residência em Inteligência Artificial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DD07E98F-DF62-936F-023C-F50629127B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6221" y="4934498"/>
            <a:ext cx="2958998" cy="2958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>
            <a:hlinkClick r:id="rId5"/>
            <a:extLst>
              <a:ext uri="{FF2B5EF4-FFF2-40B4-BE49-F238E27FC236}">
                <a16:creationId xmlns:a16="http://schemas.microsoft.com/office/drawing/2014/main" id="{1C3A7FAC-6AB9-24EB-EAFA-374B916277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701" y="842048"/>
            <a:ext cx="4655880" cy="5173902"/>
          </a:xfrm>
          <a:prstGeom prst="rect">
            <a:avLst/>
          </a:prstGeom>
        </p:spPr>
      </p:pic>
      <p:pic>
        <p:nvPicPr>
          <p:cNvPr id="8" name="Imagem 7">
            <a:hlinkClick r:id="rId7"/>
            <a:extLst>
              <a:ext uri="{FF2B5EF4-FFF2-40B4-BE49-F238E27FC236}">
                <a16:creationId xmlns:a16="http://schemas.microsoft.com/office/drawing/2014/main" id="{F15ABC20-8757-11FB-F48F-08FE28F239C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64781" y="842049"/>
            <a:ext cx="4660684" cy="517924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E1EDB570-57F5-E503-485D-14B99A7DB608}"/>
              </a:ext>
            </a:extLst>
          </p:cNvPr>
          <p:cNvSpPr txBox="1"/>
          <p:nvPr/>
        </p:nvSpPr>
        <p:spPr>
          <a:xfrm>
            <a:off x="119336" y="5622547"/>
            <a:ext cx="5591946" cy="30777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7030A0"/>
                </a:solidFill>
              </a:rPr>
              <a:t>https://www.ibge.gov.br/cidades-e-estados/mg.html</a:t>
            </a:r>
            <a:endParaRPr lang="pt-BR" sz="1400" dirty="0">
              <a:solidFill>
                <a:srgbClr val="7030A0"/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8BF016A-EBF4-98F3-0977-A8BD41F08BB3}"/>
              </a:ext>
            </a:extLst>
          </p:cNvPr>
          <p:cNvSpPr txBox="1"/>
          <p:nvPr/>
        </p:nvSpPr>
        <p:spPr>
          <a:xfrm>
            <a:off x="6480720" y="5616465"/>
            <a:ext cx="5807968" cy="30777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7030A0"/>
                </a:solidFill>
              </a:rPr>
              <a:t>https://dados.gov.br/dados/conjuntos-dados/violencia-contra-mulher</a:t>
            </a:r>
            <a:endParaRPr lang="pt-BR" sz="14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6377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5498D-1A7A-B257-1CBE-011FA1AE6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8DD1CC19-8F9B-1912-8F10-714B61CB1E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360696" cy="6858000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1D0294ED-CA3D-367E-36E3-0C74A511E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791037"/>
            <a:ext cx="8229600" cy="868523"/>
          </a:xfrm>
        </p:spPr>
        <p:txBody>
          <a:bodyPr>
            <a:normAutofit/>
          </a:bodyPr>
          <a:lstStyle/>
          <a:p>
            <a:r>
              <a:rPr lang="pt-BR" sz="3000" b="1" dirty="0"/>
              <a:t>2. Fontes de Dados - Dados brutos</a:t>
            </a:r>
          </a:p>
        </p:txBody>
      </p:sp>
      <p:sp>
        <p:nvSpPr>
          <p:cNvPr id="2" name="Espaço Reservado para Rodapé 7">
            <a:extLst>
              <a:ext uri="{FF2B5EF4-FFF2-40B4-BE49-F238E27FC236}">
                <a16:creationId xmlns:a16="http://schemas.microsoft.com/office/drawing/2014/main" id="{E9487537-F4AB-665F-D1CC-319EFE1A1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5641" y="6356351"/>
            <a:ext cx="6085184" cy="365125"/>
          </a:xfrm>
        </p:spPr>
        <p:txBody>
          <a:bodyPr/>
          <a:lstStyle/>
          <a:p>
            <a:r>
              <a:rPr lang="pt-BR" dirty="0"/>
              <a:t>Programa de Residência em Inteligência Artificial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E2F15F6F-6DAE-4628-08D5-3AE2184C4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6221" y="4934498"/>
            <a:ext cx="2958998" cy="2958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DA36CFBA-5848-462E-9A91-E50AD17822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7968" y="1808584"/>
            <a:ext cx="6480720" cy="3928810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E4C764EC-BECF-BB19-6644-CD377FDF37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064" y="1808584"/>
            <a:ext cx="4914583" cy="3928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066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3E84F-68C2-B5EE-D8BA-5594F28D6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1991A03F-01CF-9E9F-A355-A007FAA785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360696" cy="6858000"/>
          </a:xfrm>
          <a:prstGeom prst="rect">
            <a:avLst/>
          </a:prstGeom>
        </p:spPr>
      </p:pic>
      <p:sp>
        <p:nvSpPr>
          <p:cNvPr id="2" name="Espaço Reservado para Rodapé 7">
            <a:extLst>
              <a:ext uri="{FF2B5EF4-FFF2-40B4-BE49-F238E27FC236}">
                <a16:creationId xmlns:a16="http://schemas.microsoft.com/office/drawing/2014/main" id="{01E3447B-F315-4EB9-BDA4-7C21EF01E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5641" y="6356351"/>
            <a:ext cx="6085184" cy="365125"/>
          </a:xfrm>
        </p:spPr>
        <p:txBody>
          <a:bodyPr/>
          <a:lstStyle/>
          <a:p>
            <a:r>
              <a:rPr lang="pt-BR" dirty="0"/>
              <a:t>Programa de Residência em Inteligência Artificial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60089F7F-3B21-A5CA-C95E-058C612DF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6221" y="4934498"/>
            <a:ext cx="2958998" cy="2958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DB219CB-3971-993F-D2E2-28D2096B2C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8176" y="952372"/>
            <a:ext cx="4115648" cy="4953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813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3181D-D338-1583-6357-FAF7DDB22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D6CB4139-E59D-480B-33B7-C71D856156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360696" cy="6858000"/>
          </a:xfrm>
          <a:prstGeom prst="rect">
            <a:avLst/>
          </a:prstGeom>
        </p:spPr>
      </p:pic>
      <p:sp>
        <p:nvSpPr>
          <p:cNvPr id="2" name="Espaço Reservado para Rodapé 7">
            <a:extLst>
              <a:ext uri="{FF2B5EF4-FFF2-40B4-BE49-F238E27FC236}">
                <a16:creationId xmlns:a16="http://schemas.microsoft.com/office/drawing/2014/main" id="{2BFDCCE0-246B-D22D-6956-B5D018AFB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5641" y="6356351"/>
            <a:ext cx="6085184" cy="365125"/>
          </a:xfrm>
        </p:spPr>
        <p:txBody>
          <a:bodyPr/>
          <a:lstStyle/>
          <a:p>
            <a:r>
              <a:rPr lang="pt-BR" dirty="0"/>
              <a:t>Programa de Residência em Inteligência Artificial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8BEC41B6-F471-7BC7-6A10-CC9CF8E459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6221" y="4934498"/>
            <a:ext cx="2958998" cy="2958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001F1FFF-57A0-D61D-2F04-2D7BFCDB29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561" y="1770931"/>
            <a:ext cx="5079787" cy="3286922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935FC00C-1D99-8D5F-880C-085DC94120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4445" y="1859355"/>
            <a:ext cx="3234748" cy="3286922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0C1678C8-0CA0-2FB4-AF8A-508BC6D73F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6250" y="929075"/>
            <a:ext cx="3068195" cy="705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1208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5A822-632D-EA14-71CD-6D74875F4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676C0150-5030-AB83-5348-436B06807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360696" cy="6858000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09AF81F0-6279-9D6A-24D5-98C5FFCE7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97011"/>
            <a:ext cx="8229600" cy="868523"/>
          </a:xfrm>
        </p:spPr>
        <p:txBody>
          <a:bodyPr>
            <a:normAutofit fontScale="90000"/>
          </a:bodyPr>
          <a:lstStyle/>
          <a:p>
            <a:r>
              <a:rPr lang="pt-BR" sz="3000" b="1" dirty="0"/>
              <a:t>2. Fontes de Dados</a:t>
            </a:r>
            <a:br>
              <a:rPr lang="pt-BR" sz="3000" b="1" dirty="0"/>
            </a:br>
            <a:endParaRPr lang="pt-BR" sz="3000" b="1" dirty="0"/>
          </a:p>
        </p:txBody>
      </p:sp>
      <p:sp>
        <p:nvSpPr>
          <p:cNvPr id="2" name="Espaço Reservado para Rodapé 7">
            <a:extLst>
              <a:ext uri="{FF2B5EF4-FFF2-40B4-BE49-F238E27FC236}">
                <a16:creationId xmlns:a16="http://schemas.microsoft.com/office/drawing/2014/main" id="{98105F81-7749-5CF6-9A44-5770199F6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5641" y="6356351"/>
            <a:ext cx="6085184" cy="365125"/>
          </a:xfrm>
        </p:spPr>
        <p:txBody>
          <a:bodyPr/>
          <a:lstStyle/>
          <a:p>
            <a:r>
              <a:rPr lang="pt-BR" dirty="0"/>
              <a:t>Programa de Residência em Inteligência Artificial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6E4FF2E3-3590-8289-F46B-56F724557F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6221" y="4934498"/>
            <a:ext cx="2958998" cy="2958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208880F-5071-6F5A-D72C-60856545684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927"/>
          <a:stretch/>
        </p:blipFill>
        <p:spPr>
          <a:xfrm>
            <a:off x="527701" y="836712"/>
            <a:ext cx="4655880" cy="5179237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98316AEF-7897-316F-9E97-7610D3ACD38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1019"/>
          <a:stretch/>
        </p:blipFill>
        <p:spPr>
          <a:xfrm>
            <a:off x="7164781" y="1412775"/>
            <a:ext cx="4660684" cy="4608513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D0901B07-67AA-9088-8B97-9BF62FE574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336" y="1412776"/>
            <a:ext cx="5905880" cy="3740087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073380C8-1131-9B20-8B6C-F260A0038FE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44072" y="2007583"/>
            <a:ext cx="5404856" cy="3164023"/>
          </a:xfrm>
          <a:prstGeom prst="rect">
            <a:avLst/>
          </a:prstGeom>
        </p:spPr>
      </p:pic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66EB1209-C99E-69D2-8F45-BDDCAE8902D6}"/>
              </a:ext>
            </a:extLst>
          </p:cNvPr>
          <p:cNvCxnSpPr>
            <a:cxnSpLocks/>
          </p:cNvCxnSpPr>
          <p:nvPr/>
        </p:nvCxnSpPr>
        <p:spPr>
          <a:xfrm flipH="1">
            <a:off x="1631504" y="1106963"/>
            <a:ext cx="4065086" cy="40225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3F328341-19BF-03E4-C2B7-D0A17E312E78}"/>
              </a:ext>
            </a:extLst>
          </p:cNvPr>
          <p:cNvSpPr txBox="1"/>
          <p:nvPr/>
        </p:nvSpPr>
        <p:spPr>
          <a:xfrm>
            <a:off x="5711283" y="754556"/>
            <a:ext cx="6217366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7030A0"/>
                </a:solidFill>
              </a:rPr>
              <a:t>Dados estruturados no formado </a:t>
            </a:r>
            <a:r>
              <a:rPr lang="pt-BR" sz="2400" b="1" dirty="0" err="1">
                <a:solidFill>
                  <a:srgbClr val="7030A0"/>
                </a:solidFill>
              </a:rPr>
              <a:t>csv</a:t>
            </a:r>
            <a:endParaRPr lang="pt-BR" dirty="0">
              <a:solidFill>
                <a:srgbClr val="7030A0"/>
              </a:solidFill>
            </a:endParaRPr>
          </a:p>
        </p:txBody>
      </p: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D06FC6DC-2123-AAF7-823C-A8BC14DC441F}"/>
              </a:ext>
            </a:extLst>
          </p:cNvPr>
          <p:cNvCxnSpPr>
            <a:cxnSpLocks/>
          </p:cNvCxnSpPr>
          <p:nvPr/>
        </p:nvCxnSpPr>
        <p:spPr>
          <a:xfrm flipH="1">
            <a:off x="8707892" y="1246482"/>
            <a:ext cx="1060516" cy="94248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97F187D6-8D5C-C3D9-DE42-CF22D40E033D}"/>
              </a:ext>
            </a:extLst>
          </p:cNvPr>
          <p:cNvSpPr txBox="1"/>
          <p:nvPr/>
        </p:nvSpPr>
        <p:spPr>
          <a:xfrm>
            <a:off x="1714919" y="5255271"/>
            <a:ext cx="1867472" cy="120032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rgbClr val="7030A0"/>
                </a:solidFill>
              </a:rPr>
              <a:t>107.598 </a:t>
            </a:r>
            <a:r>
              <a:rPr lang="pt-BR" sz="2400" b="1" dirty="0" err="1">
                <a:solidFill>
                  <a:srgbClr val="7030A0"/>
                </a:solidFill>
              </a:rPr>
              <a:t>kb</a:t>
            </a:r>
            <a:endParaRPr lang="pt-BR" sz="2400" b="1" dirty="0">
              <a:solidFill>
                <a:srgbClr val="7030A0"/>
              </a:solidFill>
            </a:endParaRPr>
          </a:p>
          <a:p>
            <a:pPr algn="ctr"/>
            <a:r>
              <a:rPr lang="pt-BR" sz="2400" b="1" dirty="0">
                <a:solidFill>
                  <a:srgbClr val="7030A0"/>
                </a:solidFill>
              </a:rPr>
              <a:t>10 arquivos</a:t>
            </a:r>
          </a:p>
          <a:p>
            <a:pPr algn="ctr"/>
            <a:r>
              <a:rPr lang="pt-BR" sz="2400" b="1" dirty="0">
                <a:solidFill>
                  <a:srgbClr val="7030A0"/>
                </a:solidFill>
              </a:rPr>
              <a:t>2014 - 2023</a:t>
            </a:r>
            <a:endParaRPr lang="pt-BR" dirty="0">
              <a:solidFill>
                <a:srgbClr val="7030A0"/>
              </a:solidFill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6FDF19D1-2956-FE0D-DC8A-014C0B95E07E}"/>
              </a:ext>
            </a:extLst>
          </p:cNvPr>
          <p:cNvSpPr txBox="1"/>
          <p:nvPr/>
        </p:nvSpPr>
        <p:spPr>
          <a:xfrm>
            <a:off x="10257570" y="5171606"/>
            <a:ext cx="1867472" cy="83099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rgbClr val="7030A0"/>
                </a:solidFill>
              </a:rPr>
              <a:t>119 </a:t>
            </a:r>
            <a:r>
              <a:rPr lang="pt-BR" sz="2400" b="1" dirty="0" err="1">
                <a:solidFill>
                  <a:srgbClr val="7030A0"/>
                </a:solidFill>
              </a:rPr>
              <a:t>bkb</a:t>
            </a:r>
            <a:endParaRPr lang="pt-BR" sz="2400" b="1" dirty="0">
              <a:solidFill>
                <a:srgbClr val="7030A0"/>
              </a:solidFill>
            </a:endParaRPr>
          </a:p>
          <a:p>
            <a:pPr algn="ctr"/>
            <a:r>
              <a:rPr lang="pt-BR" sz="2400" b="1" dirty="0">
                <a:solidFill>
                  <a:srgbClr val="7030A0"/>
                </a:solidFill>
              </a:rPr>
              <a:t>1 arquivo</a:t>
            </a:r>
            <a:endParaRPr lang="pt-BR" dirty="0">
              <a:solidFill>
                <a:srgbClr val="7030A0"/>
              </a:solidFill>
            </a:endParaRP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96161038-26F9-913C-C6D3-94BF0D99AAAE}"/>
              </a:ext>
            </a:extLst>
          </p:cNvPr>
          <p:cNvCxnSpPr>
            <a:cxnSpLocks/>
          </p:cNvCxnSpPr>
          <p:nvPr/>
        </p:nvCxnSpPr>
        <p:spPr>
          <a:xfrm>
            <a:off x="6744072" y="2996952"/>
            <a:ext cx="108012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3EFBBD90-0FDE-FF83-67B8-8D72169E341F}"/>
              </a:ext>
            </a:extLst>
          </p:cNvPr>
          <p:cNvCxnSpPr>
            <a:cxnSpLocks/>
          </p:cNvCxnSpPr>
          <p:nvPr/>
        </p:nvCxnSpPr>
        <p:spPr>
          <a:xfrm>
            <a:off x="71989" y="2924944"/>
            <a:ext cx="91142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Imagem 15">
            <a:extLst>
              <a:ext uri="{FF2B5EF4-FFF2-40B4-BE49-F238E27FC236}">
                <a16:creationId xmlns:a16="http://schemas.microsoft.com/office/drawing/2014/main" id="{7EF479EC-1197-C9C6-11A5-789A50D3B25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41491" y="5405062"/>
            <a:ext cx="3076820" cy="56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4378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EEEA4E2E-5BB2-3E68-ADE9-9DDED86B1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360696" cy="6858000"/>
          </a:xfrm>
          <a:prstGeom prst="rect">
            <a:avLst/>
          </a:prstGeom>
        </p:spPr>
      </p:pic>
      <p:sp>
        <p:nvSpPr>
          <p:cNvPr id="11" name="Título 1"/>
          <p:cNvSpPr>
            <a:spLocks noGrp="1"/>
          </p:cNvSpPr>
          <p:nvPr>
            <p:ph type="title"/>
          </p:nvPr>
        </p:nvSpPr>
        <p:spPr>
          <a:xfrm>
            <a:off x="1981200" y="297011"/>
            <a:ext cx="8229600" cy="868523"/>
          </a:xfrm>
        </p:spPr>
        <p:txBody>
          <a:bodyPr>
            <a:normAutofit fontScale="90000"/>
          </a:bodyPr>
          <a:lstStyle/>
          <a:p>
            <a:r>
              <a:rPr lang="pt-BR" sz="3000" b="1" dirty="0"/>
              <a:t>3. Exploração e Análise Descritiva</a:t>
            </a:r>
            <a:br>
              <a:rPr lang="pt-BR" sz="3000" b="1" dirty="0"/>
            </a:br>
            <a:endParaRPr lang="pt-BR" sz="3000" b="1" dirty="0"/>
          </a:p>
        </p:txBody>
      </p:sp>
      <p:sp>
        <p:nvSpPr>
          <p:cNvPr id="2" name="Espaço Reservado para Rodapé 7">
            <a:extLst>
              <a:ext uri="{FF2B5EF4-FFF2-40B4-BE49-F238E27FC236}">
                <a16:creationId xmlns:a16="http://schemas.microsoft.com/office/drawing/2014/main" id="{4FC988C9-7744-1AFC-83D8-337E45D13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5641" y="6356351"/>
            <a:ext cx="6085184" cy="365125"/>
          </a:xfrm>
        </p:spPr>
        <p:txBody>
          <a:bodyPr/>
          <a:lstStyle/>
          <a:p>
            <a:r>
              <a:rPr lang="pt-BR" dirty="0"/>
              <a:t>Programa de Residência em Inteligência Artificial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DD07E98F-DF62-936F-023C-F50629127B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6221" y="4934498"/>
            <a:ext cx="2958998" cy="2958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C61AB971-0E39-C6D2-EB48-92B634777F36}"/>
              </a:ext>
            </a:extLst>
          </p:cNvPr>
          <p:cNvSpPr txBox="1"/>
          <p:nvPr/>
        </p:nvSpPr>
        <p:spPr>
          <a:xfrm>
            <a:off x="215488" y="1073799"/>
            <a:ext cx="508788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600" b="1" dirty="0" err="1"/>
              <a:t>Dataset</a:t>
            </a:r>
            <a:r>
              <a:rPr lang="pt-BR" sz="2600" b="1" dirty="0"/>
              <a:t> Violência contra a Mulher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904FC80-5C6E-94FD-E767-8FF27C0298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571" y="1749394"/>
            <a:ext cx="11650069" cy="3441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8081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EEEA4E2E-5BB2-3E68-ADE9-9DDED86B1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360696" cy="6858000"/>
          </a:xfrm>
          <a:prstGeom prst="rect">
            <a:avLst/>
          </a:prstGeom>
        </p:spPr>
      </p:pic>
      <p:sp>
        <p:nvSpPr>
          <p:cNvPr id="11" name="Título 1"/>
          <p:cNvSpPr>
            <a:spLocks noGrp="1"/>
          </p:cNvSpPr>
          <p:nvPr>
            <p:ph type="title"/>
          </p:nvPr>
        </p:nvSpPr>
        <p:spPr>
          <a:xfrm>
            <a:off x="1981200" y="297011"/>
            <a:ext cx="8229600" cy="868523"/>
          </a:xfrm>
        </p:spPr>
        <p:txBody>
          <a:bodyPr>
            <a:normAutofit fontScale="90000"/>
          </a:bodyPr>
          <a:lstStyle/>
          <a:p>
            <a:r>
              <a:rPr lang="pt-BR" sz="3000" b="1" dirty="0"/>
              <a:t>3. Exploração e Análise Descritiva</a:t>
            </a:r>
            <a:br>
              <a:rPr lang="pt-BR" sz="3000" b="1" dirty="0"/>
            </a:br>
            <a:endParaRPr lang="pt-BR" sz="3000" b="1" dirty="0"/>
          </a:p>
        </p:txBody>
      </p:sp>
      <p:sp>
        <p:nvSpPr>
          <p:cNvPr id="2" name="Espaço Reservado para Rodapé 7">
            <a:extLst>
              <a:ext uri="{FF2B5EF4-FFF2-40B4-BE49-F238E27FC236}">
                <a16:creationId xmlns:a16="http://schemas.microsoft.com/office/drawing/2014/main" id="{4FC988C9-7744-1AFC-83D8-337E45D13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5641" y="6356351"/>
            <a:ext cx="6085184" cy="365125"/>
          </a:xfrm>
        </p:spPr>
        <p:txBody>
          <a:bodyPr/>
          <a:lstStyle/>
          <a:p>
            <a:r>
              <a:rPr lang="pt-BR" dirty="0"/>
              <a:t>Programa de Residência em Inteligência Artificial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DD07E98F-DF62-936F-023C-F50629127B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6221" y="4934498"/>
            <a:ext cx="2958998" cy="2958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C61AB971-0E39-C6D2-EB48-92B634777F36}"/>
              </a:ext>
            </a:extLst>
          </p:cNvPr>
          <p:cNvSpPr txBox="1"/>
          <p:nvPr/>
        </p:nvSpPr>
        <p:spPr>
          <a:xfrm>
            <a:off x="215488" y="1073799"/>
            <a:ext cx="508788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600" b="1" dirty="0" err="1"/>
              <a:t>Dataset</a:t>
            </a:r>
            <a:r>
              <a:rPr lang="pt-BR" sz="2600" b="1" dirty="0"/>
              <a:t> Violência </a:t>
            </a:r>
            <a:r>
              <a:rPr lang="pt-BR" sz="2600" b="1" i="0" dirty="0">
                <a:effectLst/>
                <a:latin typeface="+mj-lt"/>
              </a:rPr>
              <a:t>IBGE Cidades</a:t>
            </a:r>
            <a:endParaRPr lang="pt-BR" sz="2600" b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9E8012C-341B-82A4-1134-C9429B5306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299" y="1700808"/>
            <a:ext cx="11801349" cy="3634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1500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EEEA4E2E-5BB2-3E68-ADE9-9DDED86B1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360696" cy="6858000"/>
          </a:xfrm>
          <a:prstGeom prst="rect">
            <a:avLst/>
          </a:prstGeom>
        </p:spPr>
      </p:pic>
      <p:sp>
        <p:nvSpPr>
          <p:cNvPr id="11" name="Título 1"/>
          <p:cNvSpPr>
            <a:spLocks noGrp="1"/>
          </p:cNvSpPr>
          <p:nvPr>
            <p:ph type="title"/>
          </p:nvPr>
        </p:nvSpPr>
        <p:spPr>
          <a:xfrm>
            <a:off x="1981200" y="297011"/>
            <a:ext cx="8229600" cy="868523"/>
          </a:xfrm>
        </p:spPr>
        <p:txBody>
          <a:bodyPr>
            <a:normAutofit fontScale="90000"/>
          </a:bodyPr>
          <a:lstStyle/>
          <a:p>
            <a:r>
              <a:rPr lang="pt-BR" sz="3000" b="1" dirty="0"/>
              <a:t>3. Exploração e Análise Descritiva</a:t>
            </a:r>
            <a:br>
              <a:rPr lang="pt-BR" sz="3000" b="1" dirty="0"/>
            </a:br>
            <a:endParaRPr lang="pt-BR" sz="3000" b="1" dirty="0"/>
          </a:p>
        </p:txBody>
      </p:sp>
      <p:sp>
        <p:nvSpPr>
          <p:cNvPr id="2" name="Espaço Reservado para Rodapé 7">
            <a:extLst>
              <a:ext uri="{FF2B5EF4-FFF2-40B4-BE49-F238E27FC236}">
                <a16:creationId xmlns:a16="http://schemas.microsoft.com/office/drawing/2014/main" id="{4FC988C9-7744-1AFC-83D8-337E45D13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5641" y="6356351"/>
            <a:ext cx="6085184" cy="365125"/>
          </a:xfrm>
        </p:spPr>
        <p:txBody>
          <a:bodyPr/>
          <a:lstStyle/>
          <a:p>
            <a:r>
              <a:rPr lang="pt-BR" dirty="0"/>
              <a:t>Programa de Residência em Inteligência Artificial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DD07E98F-DF62-936F-023C-F50629127B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6221" y="4934498"/>
            <a:ext cx="2958998" cy="2958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765CB011-9BAB-6693-2C87-53452C2CACC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461" r="7284"/>
          <a:stretch/>
        </p:blipFill>
        <p:spPr>
          <a:xfrm>
            <a:off x="354742" y="1941763"/>
            <a:ext cx="6302212" cy="3888432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6787DE26-FDBE-56A9-82C2-DB34EB5638C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6444" r="29595"/>
          <a:stretch/>
        </p:blipFill>
        <p:spPr>
          <a:xfrm>
            <a:off x="8112224" y="1755198"/>
            <a:ext cx="3433968" cy="4055177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C61AB971-0E39-C6D2-EB48-92B634777F36}"/>
              </a:ext>
            </a:extLst>
          </p:cNvPr>
          <p:cNvSpPr txBox="1"/>
          <p:nvPr/>
        </p:nvSpPr>
        <p:spPr>
          <a:xfrm>
            <a:off x="6960096" y="1138638"/>
            <a:ext cx="508788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600" b="1" dirty="0" err="1"/>
              <a:t>Dataset</a:t>
            </a:r>
            <a:r>
              <a:rPr lang="pt-BR" sz="2600" b="1" dirty="0"/>
              <a:t> Violência contra a Mulher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10F6CA2D-EC28-2918-7B1A-57E0184CA696}"/>
              </a:ext>
            </a:extLst>
          </p:cNvPr>
          <p:cNvSpPr txBox="1"/>
          <p:nvPr/>
        </p:nvSpPr>
        <p:spPr>
          <a:xfrm>
            <a:off x="551384" y="1219067"/>
            <a:ext cx="597666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b="1" i="0" dirty="0">
                <a:solidFill>
                  <a:srgbClr val="1F1F1F"/>
                </a:solidFill>
                <a:effectLst/>
                <a:latin typeface="+mj-lt"/>
              </a:rPr>
              <a:t> </a:t>
            </a:r>
            <a:r>
              <a:rPr lang="pt-BR" sz="2600" b="1" i="0" dirty="0" err="1">
                <a:solidFill>
                  <a:srgbClr val="1F1F1F"/>
                </a:solidFill>
                <a:effectLst/>
                <a:latin typeface="+mj-lt"/>
              </a:rPr>
              <a:t>Dataset</a:t>
            </a:r>
            <a:r>
              <a:rPr lang="pt-BR" sz="2600" b="1" i="0" dirty="0">
                <a:solidFill>
                  <a:srgbClr val="1F1F1F"/>
                </a:solidFill>
                <a:effectLst/>
                <a:latin typeface="+mj-lt"/>
              </a:rPr>
              <a:t> IBGE Cidades</a:t>
            </a:r>
          </a:p>
        </p:txBody>
      </p:sp>
    </p:spTree>
    <p:extLst>
      <p:ext uri="{BB962C8B-B14F-4D97-AF65-F5344CB8AC3E}">
        <p14:creationId xmlns:p14="http://schemas.microsoft.com/office/powerpoint/2010/main" val="958974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EEEA4E2E-5BB2-3E68-ADE9-9DDED86B1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360696" cy="6858000"/>
          </a:xfrm>
          <a:prstGeom prst="rect">
            <a:avLst/>
          </a:prstGeom>
        </p:spPr>
      </p:pic>
      <p:sp>
        <p:nvSpPr>
          <p:cNvPr id="11" name="Título 1"/>
          <p:cNvSpPr>
            <a:spLocks noGrp="1"/>
          </p:cNvSpPr>
          <p:nvPr>
            <p:ph type="title"/>
          </p:nvPr>
        </p:nvSpPr>
        <p:spPr>
          <a:xfrm>
            <a:off x="1981200" y="297011"/>
            <a:ext cx="8229600" cy="868523"/>
          </a:xfrm>
        </p:spPr>
        <p:txBody>
          <a:bodyPr>
            <a:normAutofit fontScale="90000"/>
          </a:bodyPr>
          <a:lstStyle/>
          <a:p>
            <a:r>
              <a:rPr lang="pt-BR" sz="3000" b="1" dirty="0"/>
              <a:t>3. Exploração e Análise Descritiva</a:t>
            </a:r>
            <a:br>
              <a:rPr lang="pt-BR" sz="3000" b="1" dirty="0"/>
            </a:br>
            <a:endParaRPr lang="pt-BR" sz="3000" b="1" dirty="0"/>
          </a:p>
        </p:txBody>
      </p:sp>
      <p:sp>
        <p:nvSpPr>
          <p:cNvPr id="2" name="Espaço Reservado para Rodapé 7">
            <a:extLst>
              <a:ext uri="{FF2B5EF4-FFF2-40B4-BE49-F238E27FC236}">
                <a16:creationId xmlns:a16="http://schemas.microsoft.com/office/drawing/2014/main" id="{4FC988C9-7744-1AFC-83D8-337E45D13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5641" y="6356351"/>
            <a:ext cx="6085184" cy="365125"/>
          </a:xfrm>
        </p:spPr>
        <p:txBody>
          <a:bodyPr/>
          <a:lstStyle/>
          <a:p>
            <a:r>
              <a:rPr lang="pt-BR" dirty="0"/>
              <a:t>Programa de Residência em Inteligência Artificial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DD07E98F-DF62-936F-023C-F50629127B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6221" y="4934498"/>
            <a:ext cx="2958998" cy="2958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6B9723E2-AD12-100F-8D7D-8C04BC0CD4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399" y="1101999"/>
            <a:ext cx="6145668" cy="4654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91350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7F717-F535-55FA-5274-0AB77CFC3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8B083B77-64BB-6097-16E5-3602FE92E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360696" cy="6858000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0F488BCA-D187-6275-7A25-5DBF1BFC2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97011"/>
            <a:ext cx="8229600" cy="868523"/>
          </a:xfrm>
        </p:spPr>
        <p:txBody>
          <a:bodyPr>
            <a:normAutofit fontScale="90000"/>
          </a:bodyPr>
          <a:lstStyle/>
          <a:p>
            <a:r>
              <a:rPr lang="pt-BR" sz="3000" b="1" dirty="0"/>
              <a:t>3. Exploração e Análise Descritiva</a:t>
            </a:r>
            <a:br>
              <a:rPr lang="pt-BR" sz="3000" b="1" dirty="0"/>
            </a:br>
            <a:endParaRPr lang="pt-BR" sz="3000" b="1" dirty="0"/>
          </a:p>
        </p:txBody>
      </p:sp>
      <p:sp>
        <p:nvSpPr>
          <p:cNvPr id="2" name="Espaço Reservado para Rodapé 7">
            <a:extLst>
              <a:ext uri="{FF2B5EF4-FFF2-40B4-BE49-F238E27FC236}">
                <a16:creationId xmlns:a16="http://schemas.microsoft.com/office/drawing/2014/main" id="{9AA7D918-D66B-D5BA-CBF6-A38A6B88E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5641" y="6356351"/>
            <a:ext cx="6085184" cy="365125"/>
          </a:xfrm>
        </p:spPr>
        <p:txBody>
          <a:bodyPr/>
          <a:lstStyle/>
          <a:p>
            <a:r>
              <a:rPr lang="pt-BR" dirty="0"/>
              <a:t>Programa de Residência em Inteligência Artificial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86D8444B-E678-A84B-725A-99F8B9C74C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6221" y="4934498"/>
            <a:ext cx="2958998" cy="2958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>
            <a:extLst>
              <a:ext uri="{FF2B5EF4-FFF2-40B4-BE49-F238E27FC236}">
                <a16:creationId xmlns:a16="http://schemas.microsoft.com/office/drawing/2014/main" id="{D7411609-B2EF-6E1A-B4A1-139A64A99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7508" y="870648"/>
            <a:ext cx="8856984" cy="5116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18614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C2812-80A8-B6FC-018B-88D7BFD69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AFD5FF19-FE69-2578-3050-ED04BEDF0D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360696" cy="6858000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44A74AE2-E272-2B67-9834-CC1863C36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97011"/>
            <a:ext cx="8229600" cy="868523"/>
          </a:xfrm>
        </p:spPr>
        <p:txBody>
          <a:bodyPr>
            <a:normAutofit fontScale="90000"/>
          </a:bodyPr>
          <a:lstStyle/>
          <a:p>
            <a:r>
              <a:rPr lang="pt-BR" sz="3000" b="1" dirty="0"/>
              <a:t>3. Exploração e Análise Descritiva</a:t>
            </a:r>
            <a:br>
              <a:rPr lang="pt-BR" sz="3000" b="1" dirty="0"/>
            </a:br>
            <a:endParaRPr lang="pt-BR" sz="3000" b="1" dirty="0"/>
          </a:p>
        </p:txBody>
      </p:sp>
      <p:sp>
        <p:nvSpPr>
          <p:cNvPr id="2" name="Espaço Reservado para Rodapé 7">
            <a:extLst>
              <a:ext uri="{FF2B5EF4-FFF2-40B4-BE49-F238E27FC236}">
                <a16:creationId xmlns:a16="http://schemas.microsoft.com/office/drawing/2014/main" id="{3BA8593A-5220-FF1C-359E-47136D5EB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5641" y="6356351"/>
            <a:ext cx="6085184" cy="365125"/>
          </a:xfrm>
        </p:spPr>
        <p:txBody>
          <a:bodyPr/>
          <a:lstStyle/>
          <a:p>
            <a:r>
              <a:rPr lang="pt-BR" dirty="0"/>
              <a:t>Programa de Residência em Inteligência Artificial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04B471D7-BC43-37AB-EB75-A668ACA15F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6221" y="4934498"/>
            <a:ext cx="2958998" cy="2958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D7F1D9EE-39F6-6FE6-EF64-C76A939CBE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7497" y="1154534"/>
            <a:ext cx="7885702" cy="4548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51922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B5B6F-2C01-A7D0-D1BE-73B597F68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5852B19F-A828-4D1F-5318-7CAF54938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360696" cy="6858000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791BA37F-6D27-FD2C-B293-614459DDB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97011"/>
            <a:ext cx="8229600" cy="868523"/>
          </a:xfrm>
        </p:spPr>
        <p:txBody>
          <a:bodyPr>
            <a:normAutofit fontScale="90000"/>
          </a:bodyPr>
          <a:lstStyle/>
          <a:p>
            <a:r>
              <a:rPr lang="pt-BR" sz="3000" b="1" dirty="0"/>
              <a:t>3. Exploração e Análise Descritiva</a:t>
            </a:r>
            <a:br>
              <a:rPr lang="pt-BR" sz="3000" b="1" dirty="0"/>
            </a:br>
            <a:endParaRPr lang="pt-BR" sz="3000" b="1" dirty="0"/>
          </a:p>
        </p:txBody>
      </p:sp>
      <p:sp>
        <p:nvSpPr>
          <p:cNvPr id="2" name="Espaço Reservado para Rodapé 7">
            <a:extLst>
              <a:ext uri="{FF2B5EF4-FFF2-40B4-BE49-F238E27FC236}">
                <a16:creationId xmlns:a16="http://schemas.microsoft.com/office/drawing/2014/main" id="{671BBD80-B93E-D18B-6249-BFECE4430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5641" y="6356351"/>
            <a:ext cx="6085184" cy="365125"/>
          </a:xfrm>
        </p:spPr>
        <p:txBody>
          <a:bodyPr/>
          <a:lstStyle/>
          <a:p>
            <a:r>
              <a:rPr lang="pt-BR" dirty="0"/>
              <a:t>Programa de Residência em Inteligência Artificial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1FF362FA-B439-CAF1-B81F-3B342EB5F7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6221" y="4934498"/>
            <a:ext cx="2958998" cy="2958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A75BAB5D-1E1D-A9DD-2C14-A22252097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7756" y="1162579"/>
            <a:ext cx="6085184" cy="4532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55661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BCF57-8553-C181-694C-8D382335A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12B3F1B1-97B8-042A-2CD8-1EFFC7972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360696" cy="6858000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328BA212-E70C-3E09-0210-75BE89CCC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97011"/>
            <a:ext cx="8229600" cy="868523"/>
          </a:xfrm>
        </p:spPr>
        <p:txBody>
          <a:bodyPr>
            <a:normAutofit fontScale="90000"/>
          </a:bodyPr>
          <a:lstStyle/>
          <a:p>
            <a:r>
              <a:rPr lang="pt-BR" sz="3000" b="1" dirty="0"/>
              <a:t>3. Exploração e Análise Descritiva</a:t>
            </a:r>
            <a:br>
              <a:rPr lang="pt-BR" sz="3000" b="1" dirty="0"/>
            </a:br>
            <a:endParaRPr lang="pt-BR" sz="3000" b="1" dirty="0"/>
          </a:p>
        </p:txBody>
      </p:sp>
      <p:sp>
        <p:nvSpPr>
          <p:cNvPr id="2" name="Espaço Reservado para Rodapé 7">
            <a:extLst>
              <a:ext uri="{FF2B5EF4-FFF2-40B4-BE49-F238E27FC236}">
                <a16:creationId xmlns:a16="http://schemas.microsoft.com/office/drawing/2014/main" id="{4BEBC3E9-2F0D-B719-99C6-892DD20CA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5641" y="6356351"/>
            <a:ext cx="6085184" cy="365125"/>
          </a:xfrm>
        </p:spPr>
        <p:txBody>
          <a:bodyPr/>
          <a:lstStyle/>
          <a:p>
            <a:r>
              <a:rPr lang="pt-BR" dirty="0"/>
              <a:t>Programa de Residência em Inteligência Artificial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97957B04-F9BA-CF57-F749-BDF967D886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6221" y="4934498"/>
            <a:ext cx="2958998" cy="2958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19ED613C-9E65-52CF-0710-F2FC2A2FF3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0684" y="836834"/>
            <a:ext cx="4655098" cy="5184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73912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60F78-ED65-AA53-3F6B-B5916CED2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4841195B-53A1-05CE-B8FD-7C508E25E9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360696" cy="6858000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58AF77E6-716F-BFC1-B732-816CFD58D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97011"/>
            <a:ext cx="8229600" cy="868523"/>
          </a:xfrm>
        </p:spPr>
        <p:txBody>
          <a:bodyPr>
            <a:normAutofit fontScale="90000"/>
          </a:bodyPr>
          <a:lstStyle/>
          <a:p>
            <a:r>
              <a:rPr lang="pt-BR" sz="3000" b="1" dirty="0"/>
              <a:t>3. Exploração e Análise Descritiva</a:t>
            </a:r>
            <a:br>
              <a:rPr lang="pt-BR" sz="3000" b="1" dirty="0"/>
            </a:br>
            <a:endParaRPr lang="pt-BR" sz="3000" b="1" dirty="0"/>
          </a:p>
        </p:txBody>
      </p:sp>
      <p:sp>
        <p:nvSpPr>
          <p:cNvPr id="2" name="Espaço Reservado para Rodapé 7">
            <a:extLst>
              <a:ext uri="{FF2B5EF4-FFF2-40B4-BE49-F238E27FC236}">
                <a16:creationId xmlns:a16="http://schemas.microsoft.com/office/drawing/2014/main" id="{C23C2A36-2781-912E-546C-22770C9E3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5641" y="6356351"/>
            <a:ext cx="6085184" cy="365125"/>
          </a:xfrm>
        </p:spPr>
        <p:txBody>
          <a:bodyPr/>
          <a:lstStyle/>
          <a:p>
            <a:r>
              <a:rPr lang="pt-BR" dirty="0"/>
              <a:t>Programa de Residência em Inteligência Artificial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7873CB58-F873-9902-9A4F-6D77C727A5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6221" y="4934498"/>
            <a:ext cx="2958998" cy="2958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>
            <a:extLst>
              <a:ext uri="{FF2B5EF4-FFF2-40B4-BE49-F238E27FC236}">
                <a16:creationId xmlns:a16="http://schemas.microsoft.com/office/drawing/2014/main" id="{854F3CDB-17D8-0BEF-26F1-394043EDE5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2574" y="1108484"/>
            <a:ext cx="7006851" cy="4639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63279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BF17D-88ED-9649-C99C-82CBABEB0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DB516676-5D14-BBD9-AB13-4815A8578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360696" cy="6858000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8AAE6004-9D5A-53F8-4D0E-67C2ADF08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97011"/>
            <a:ext cx="8229600" cy="868523"/>
          </a:xfrm>
        </p:spPr>
        <p:txBody>
          <a:bodyPr>
            <a:normAutofit fontScale="90000"/>
          </a:bodyPr>
          <a:lstStyle/>
          <a:p>
            <a:r>
              <a:rPr lang="pt-BR" sz="3000" b="1" dirty="0"/>
              <a:t>3. Exploração e Análise Descritiva</a:t>
            </a:r>
            <a:br>
              <a:rPr lang="pt-BR" sz="3000" b="1" dirty="0"/>
            </a:br>
            <a:endParaRPr lang="pt-BR" sz="3000" b="1" dirty="0"/>
          </a:p>
        </p:txBody>
      </p:sp>
      <p:sp>
        <p:nvSpPr>
          <p:cNvPr id="2" name="Espaço Reservado para Rodapé 7">
            <a:extLst>
              <a:ext uri="{FF2B5EF4-FFF2-40B4-BE49-F238E27FC236}">
                <a16:creationId xmlns:a16="http://schemas.microsoft.com/office/drawing/2014/main" id="{35E94274-676F-431B-4C65-4ED268A31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5641" y="6356351"/>
            <a:ext cx="6085184" cy="365125"/>
          </a:xfrm>
        </p:spPr>
        <p:txBody>
          <a:bodyPr/>
          <a:lstStyle/>
          <a:p>
            <a:r>
              <a:rPr lang="pt-BR" dirty="0"/>
              <a:t>Programa de Residência em Inteligência Artificial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CF3DA4FE-FBBE-3302-1835-19C32CE820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6221" y="4934498"/>
            <a:ext cx="2958998" cy="2958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>
            <a:extLst>
              <a:ext uri="{FF2B5EF4-FFF2-40B4-BE49-F238E27FC236}">
                <a16:creationId xmlns:a16="http://schemas.microsoft.com/office/drawing/2014/main" id="{16B26765-66FC-9B19-7505-0179993E30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8655" y="927754"/>
            <a:ext cx="7554689" cy="5002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93218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31D27-7257-47B5-5C60-9D00C082E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1107D1AF-22B9-C790-6D5F-EDE05375FE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360696" cy="6858000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A3BE2362-F828-694A-F85E-2761D4603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97011"/>
            <a:ext cx="8229600" cy="868523"/>
          </a:xfrm>
        </p:spPr>
        <p:txBody>
          <a:bodyPr>
            <a:normAutofit fontScale="90000"/>
          </a:bodyPr>
          <a:lstStyle/>
          <a:p>
            <a:r>
              <a:rPr lang="pt-BR" sz="3000" b="1" dirty="0"/>
              <a:t>3. Exploração e Análise Descritiva</a:t>
            </a:r>
            <a:br>
              <a:rPr lang="pt-BR" sz="3000" b="1" dirty="0"/>
            </a:br>
            <a:endParaRPr lang="pt-BR" sz="3000" b="1" dirty="0"/>
          </a:p>
        </p:txBody>
      </p:sp>
      <p:sp>
        <p:nvSpPr>
          <p:cNvPr id="2" name="Espaço Reservado para Rodapé 7">
            <a:extLst>
              <a:ext uri="{FF2B5EF4-FFF2-40B4-BE49-F238E27FC236}">
                <a16:creationId xmlns:a16="http://schemas.microsoft.com/office/drawing/2014/main" id="{878AA550-0F9C-BEB7-C0FC-857A0C30A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5641" y="6356351"/>
            <a:ext cx="6085184" cy="365125"/>
          </a:xfrm>
        </p:spPr>
        <p:txBody>
          <a:bodyPr/>
          <a:lstStyle/>
          <a:p>
            <a:r>
              <a:rPr lang="pt-BR" dirty="0"/>
              <a:t>Programa de Residência em Inteligência Artificial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0BF016C0-F9AE-8920-2910-8C0E6646E2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6221" y="4934498"/>
            <a:ext cx="2958998" cy="2958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>
            <a:extLst>
              <a:ext uri="{FF2B5EF4-FFF2-40B4-BE49-F238E27FC236}">
                <a16:creationId xmlns:a16="http://schemas.microsoft.com/office/drawing/2014/main" id="{518C34AB-B034-42EA-3D3F-9B82603AB1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6504" y="1014031"/>
            <a:ext cx="9758992" cy="4829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75252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31D27-7257-47B5-5C60-9D00C082E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1107D1AF-22B9-C790-6D5F-EDE05375FE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360696" cy="6858000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A3BE2362-F828-694A-F85E-2761D4603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97011"/>
            <a:ext cx="8229600" cy="868523"/>
          </a:xfrm>
        </p:spPr>
        <p:txBody>
          <a:bodyPr>
            <a:normAutofit fontScale="90000"/>
          </a:bodyPr>
          <a:lstStyle/>
          <a:p>
            <a:r>
              <a:rPr lang="pt-BR" sz="3000" b="1" dirty="0"/>
              <a:t>4. Recomendações e Insights</a:t>
            </a:r>
            <a:br>
              <a:rPr lang="pt-BR" sz="3000" b="1" dirty="0"/>
            </a:br>
            <a:endParaRPr lang="pt-BR" sz="3000" b="1" dirty="0"/>
          </a:p>
        </p:txBody>
      </p:sp>
      <p:sp>
        <p:nvSpPr>
          <p:cNvPr id="2" name="Espaço Reservado para Rodapé 7">
            <a:extLst>
              <a:ext uri="{FF2B5EF4-FFF2-40B4-BE49-F238E27FC236}">
                <a16:creationId xmlns:a16="http://schemas.microsoft.com/office/drawing/2014/main" id="{878AA550-0F9C-BEB7-C0FC-857A0C30A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5641" y="6356351"/>
            <a:ext cx="6085184" cy="365125"/>
          </a:xfrm>
        </p:spPr>
        <p:txBody>
          <a:bodyPr/>
          <a:lstStyle/>
          <a:p>
            <a:r>
              <a:rPr lang="pt-BR" dirty="0"/>
              <a:t>Programa de Residência em Inteligência Artificial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0BF016C0-F9AE-8920-2910-8C0E6646E2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6221" y="4934498"/>
            <a:ext cx="2958998" cy="2958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3A485902-716D-C940-30EE-6A19217CA0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946140"/>
            <a:ext cx="10210800" cy="5166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75321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31D27-7257-47B5-5C60-9D00C082E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1107D1AF-22B9-C790-6D5F-EDE05375FE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360696" cy="6858000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A3BE2362-F828-694A-F85E-2761D4603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97011"/>
            <a:ext cx="8229600" cy="868523"/>
          </a:xfrm>
        </p:spPr>
        <p:txBody>
          <a:bodyPr>
            <a:normAutofit fontScale="90000"/>
          </a:bodyPr>
          <a:lstStyle/>
          <a:p>
            <a:r>
              <a:rPr lang="pt-BR" sz="3000" b="1" dirty="0"/>
              <a:t>4. Recomendações e Insights</a:t>
            </a:r>
            <a:br>
              <a:rPr lang="pt-BR" sz="3000" b="1" dirty="0"/>
            </a:br>
            <a:endParaRPr lang="pt-BR" sz="3000" b="1" dirty="0"/>
          </a:p>
        </p:txBody>
      </p:sp>
      <p:sp>
        <p:nvSpPr>
          <p:cNvPr id="2" name="Espaço Reservado para Rodapé 7">
            <a:extLst>
              <a:ext uri="{FF2B5EF4-FFF2-40B4-BE49-F238E27FC236}">
                <a16:creationId xmlns:a16="http://schemas.microsoft.com/office/drawing/2014/main" id="{878AA550-0F9C-BEB7-C0FC-857A0C30A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5641" y="6356351"/>
            <a:ext cx="6085184" cy="365125"/>
          </a:xfrm>
        </p:spPr>
        <p:txBody>
          <a:bodyPr/>
          <a:lstStyle/>
          <a:p>
            <a:r>
              <a:rPr lang="pt-BR" dirty="0"/>
              <a:t>Programa de Residência em Inteligência Artificial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0BF016C0-F9AE-8920-2910-8C0E6646E2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6221" y="4934498"/>
            <a:ext cx="2958998" cy="2958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EE459791-A37F-80CA-55B0-44682C90DB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600" y="908720"/>
            <a:ext cx="6984776" cy="4921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39552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31D27-7257-47B5-5C60-9D00C082E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1107D1AF-22B9-C790-6D5F-EDE05375FE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360696" cy="6858000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A3BE2362-F828-694A-F85E-2761D4603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97011"/>
            <a:ext cx="8229600" cy="868523"/>
          </a:xfrm>
        </p:spPr>
        <p:txBody>
          <a:bodyPr>
            <a:normAutofit fontScale="90000"/>
          </a:bodyPr>
          <a:lstStyle/>
          <a:p>
            <a:r>
              <a:rPr lang="pt-BR" sz="3000" b="1" dirty="0"/>
              <a:t>4. Insights e Conclusões </a:t>
            </a:r>
            <a:br>
              <a:rPr lang="pt-BR" sz="3000" b="1" dirty="0"/>
            </a:br>
            <a:endParaRPr lang="pt-BR" sz="3000" b="1" dirty="0"/>
          </a:p>
        </p:txBody>
      </p:sp>
      <p:sp>
        <p:nvSpPr>
          <p:cNvPr id="2" name="Espaço Reservado para Rodapé 7">
            <a:extLst>
              <a:ext uri="{FF2B5EF4-FFF2-40B4-BE49-F238E27FC236}">
                <a16:creationId xmlns:a16="http://schemas.microsoft.com/office/drawing/2014/main" id="{878AA550-0F9C-BEB7-C0FC-857A0C30A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5641" y="6356351"/>
            <a:ext cx="6085184" cy="365125"/>
          </a:xfrm>
        </p:spPr>
        <p:txBody>
          <a:bodyPr/>
          <a:lstStyle/>
          <a:p>
            <a:r>
              <a:rPr lang="pt-BR" dirty="0"/>
              <a:t>Programa de Residência em Inteligência Artificial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0BF016C0-F9AE-8920-2910-8C0E6646E2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6221" y="4934498"/>
            <a:ext cx="2958998" cy="2958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AA1C0C58-E50F-5395-DA76-5E10DEDA83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5845" y="1008993"/>
            <a:ext cx="6984776" cy="4840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98339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31D27-7257-47B5-5C60-9D00C082E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1107D1AF-22B9-C790-6D5F-EDE05375FE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360696" cy="6858000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A3BE2362-F828-694A-F85E-2761D4603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97011"/>
            <a:ext cx="8229600" cy="868523"/>
          </a:xfrm>
        </p:spPr>
        <p:txBody>
          <a:bodyPr>
            <a:normAutofit fontScale="90000"/>
          </a:bodyPr>
          <a:lstStyle/>
          <a:p>
            <a:r>
              <a:rPr lang="pt-BR" sz="3000" b="1" dirty="0"/>
              <a:t>4. Recomendações e Insights</a:t>
            </a:r>
            <a:br>
              <a:rPr lang="pt-BR" sz="3000" b="1" dirty="0"/>
            </a:br>
            <a:endParaRPr lang="pt-BR" sz="3000" b="1" dirty="0"/>
          </a:p>
        </p:txBody>
      </p:sp>
      <p:sp>
        <p:nvSpPr>
          <p:cNvPr id="2" name="Espaço Reservado para Rodapé 7">
            <a:extLst>
              <a:ext uri="{FF2B5EF4-FFF2-40B4-BE49-F238E27FC236}">
                <a16:creationId xmlns:a16="http://schemas.microsoft.com/office/drawing/2014/main" id="{878AA550-0F9C-BEB7-C0FC-857A0C30A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5641" y="6356351"/>
            <a:ext cx="6085184" cy="365125"/>
          </a:xfrm>
        </p:spPr>
        <p:txBody>
          <a:bodyPr/>
          <a:lstStyle/>
          <a:p>
            <a:r>
              <a:rPr lang="pt-BR" dirty="0"/>
              <a:t>Programa de Residência em Inteligência Artificial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0BF016C0-F9AE-8920-2910-8C0E6646E2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6221" y="4934498"/>
            <a:ext cx="2958998" cy="2958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A3C0EA8-231D-19C1-955D-1EE12E3D9C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55663"/>
            <a:ext cx="12192000" cy="5145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Campanha Agosto Lilás 2025">
            <a:extLst>
              <a:ext uri="{FF2B5EF4-FFF2-40B4-BE49-F238E27FC236}">
                <a16:creationId xmlns:a16="http://schemas.microsoft.com/office/drawing/2014/main" id="{9BB0C29F-F8CA-6B3C-B123-42C8B6B0F4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8088" y="1340768"/>
            <a:ext cx="1190625" cy="70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Momentum » Blog | O réveillon está chegando! Prepare-se para a festa da  virada de ano da Riviera de Santa Cristina I">
            <a:extLst>
              <a:ext uri="{FF2B5EF4-FFF2-40B4-BE49-F238E27FC236}">
                <a16:creationId xmlns:a16="http://schemas.microsoft.com/office/drawing/2014/main" id="{8F1A32D1-887D-6270-A210-2162EBB8E0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197" t="1" b="-50642"/>
          <a:stretch/>
        </p:blipFill>
        <p:spPr bwMode="auto">
          <a:xfrm>
            <a:off x="983432" y="1145492"/>
            <a:ext cx="677540" cy="868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Momentum » Blog | O réveillon está chegando! Prepare-se para a festa da  virada de ano da Riviera de Santa Cristina I">
            <a:extLst>
              <a:ext uri="{FF2B5EF4-FFF2-40B4-BE49-F238E27FC236}">
                <a16:creationId xmlns:a16="http://schemas.microsoft.com/office/drawing/2014/main" id="{D29AB831-0B2E-EEB6-74B9-D44D0B5B10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197" t="1" b="-50642"/>
          <a:stretch/>
        </p:blipFill>
        <p:spPr bwMode="auto">
          <a:xfrm>
            <a:off x="11208568" y="1864955"/>
            <a:ext cx="677540" cy="868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349A476A-9DCA-63C4-3366-F3028942EBB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2256"/>
          <a:stretch/>
        </p:blipFill>
        <p:spPr>
          <a:xfrm>
            <a:off x="1752691" y="1168397"/>
            <a:ext cx="989944" cy="696558"/>
          </a:xfrm>
          <a:prstGeom prst="rect">
            <a:avLst/>
          </a:prstGeom>
        </p:spPr>
      </p:pic>
      <p:pic>
        <p:nvPicPr>
          <p:cNvPr id="9" name="Picture 8" descr="4.648.700+ Frio fotos de stock, imagens e fotos royalty-free - iStock">
            <a:extLst>
              <a:ext uri="{FF2B5EF4-FFF2-40B4-BE49-F238E27FC236}">
                <a16:creationId xmlns:a16="http://schemas.microsoft.com/office/drawing/2014/main" id="{C217F6F8-8978-149D-0DD3-9C01E558D9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98"/>
          <a:stretch/>
        </p:blipFill>
        <p:spPr bwMode="auto">
          <a:xfrm>
            <a:off x="5902673" y="4036631"/>
            <a:ext cx="854652" cy="868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828253AB-D9BB-602C-12DB-2EC40D3E7437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4131" t="11768" r="3223" b="10420"/>
          <a:stretch/>
        </p:blipFill>
        <p:spPr>
          <a:xfrm>
            <a:off x="7824192" y="3956053"/>
            <a:ext cx="3926930" cy="1415602"/>
          </a:xfrm>
          <a:prstGeom prst="rect">
            <a:avLst/>
          </a:prstGeom>
        </p:spPr>
      </p:pic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09DB014C-B613-2E23-0CD1-3DAF23102409}"/>
              </a:ext>
            </a:extLst>
          </p:cNvPr>
          <p:cNvCxnSpPr>
            <a:cxnSpLocks/>
          </p:cNvCxnSpPr>
          <p:nvPr/>
        </p:nvCxnSpPr>
        <p:spPr>
          <a:xfrm flipH="1">
            <a:off x="7064729" y="4812383"/>
            <a:ext cx="97548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83018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31D27-7257-47B5-5C60-9D00C082E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1107D1AF-22B9-C790-6D5F-EDE05375FE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360696" cy="6858000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A3BE2362-F828-694A-F85E-2761D4603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97011"/>
            <a:ext cx="8229600" cy="868523"/>
          </a:xfrm>
        </p:spPr>
        <p:txBody>
          <a:bodyPr>
            <a:normAutofit fontScale="90000"/>
          </a:bodyPr>
          <a:lstStyle/>
          <a:p>
            <a:r>
              <a:rPr lang="pt-BR" sz="3000" b="1" dirty="0"/>
              <a:t>4. Recomendações e Insights</a:t>
            </a:r>
            <a:br>
              <a:rPr lang="pt-BR" sz="3000" b="1" dirty="0"/>
            </a:br>
            <a:endParaRPr lang="pt-BR" sz="3000" b="1" dirty="0"/>
          </a:p>
        </p:txBody>
      </p:sp>
      <p:sp>
        <p:nvSpPr>
          <p:cNvPr id="2" name="Espaço Reservado para Rodapé 7">
            <a:extLst>
              <a:ext uri="{FF2B5EF4-FFF2-40B4-BE49-F238E27FC236}">
                <a16:creationId xmlns:a16="http://schemas.microsoft.com/office/drawing/2014/main" id="{878AA550-0F9C-BEB7-C0FC-857A0C30A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5641" y="6356351"/>
            <a:ext cx="6085184" cy="365125"/>
          </a:xfrm>
        </p:spPr>
        <p:txBody>
          <a:bodyPr/>
          <a:lstStyle/>
          <a:p>
            <a:r>
              <a:rPr lang="pt-BR" dirty="0"/>
              <a:t>Programa de Residência em Inteligência Artificial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0BF016C0-F9AE-8920-2910-8C0E6646E2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6221" y="4934498"/>
            <a:ext cx="2958998" cy="2958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FACCCD7D-2BC5-1674-8D53-90FD396BE2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176" y="1611540"/>
            <a:ext cx="4391638" cy="2876951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602BBA21-89EB-DBE2-287E-5AB5C08A1182}"/>
              </a:ext>
            </a:extLst>
          </p:cNvPr>
          <p:cNvSpPr txBox="1"/>
          <p:nvPr/>
        </p:nvSpPr>
        <p:spPr>
          <a:xfrm>
            <a:off x="407368" y="916380"/>
            <a:ext cx="62016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i="0" dirty="0">
                <a:effectLst/>
                <a:latin typeface="Google Sans"/>
              </a:rPr>
              <a:t>Random Forest</a:t>
            </a:r>
            <a:endParaRPr lang="pt-BR" dirty="0"/>
          </a:p>
        </p:txBody>
      </p:sp>
      <p:pic>
        <p:nvPicPr>
          <p:cNvPr id="4102" name="Picture 6">
            <a:extLst>
              <a:ext uri="{FF2B5EF4-FFF2-40B4-BE49-F238E27FC236}">
                <a16:creationId xmlns:a16="http://schemas.microsoft.com/office/drawing/2014/main" id="{326F4B2D-C0CE-5273-0742-FCC6005E88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81" y="1348751"/>
            <a:ext cx="7025895" cy="4655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57575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31D27-7257-47B5-5C60-9D00C082E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1107D1AF-22B9-C790-6D5F-EDE05375FE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360696" cy="6858000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A3BE2362-F828-694A-F85E-2761D4603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97011"/>
            <a:ext cx="8229600" cy="868523"/>
          </a:xfrm>
        </p:spPr>
        <p:txBody>
          <a:bodyPr>
            <a:normAutofit fontScale="90000"/>
          </a:bodyPr>
          <a:lstStyle/>
          <a:p>
            <a:r>
              <a:rPr lang="pt-BR" sz="3000" b="1" dirty="0"/>
              <a:t>4. Recomendações e Insights</a:t>
            </a:r>
            <a:br>
              <a:rPr lang="pt-BR" sz="3000" b="1" dirty="0"/>
            </a:br>
            <a:endParaRPr lang="pt-BR" sz="3000" b="1" dirty="0"/>
          </a:p>
        </p:txBody>
      </p:sp>
      <p:sp>
        <p:nvSpPr>
          <p:cNvPr id="2" name="Espaço Reservado para Rodapé 7">
            <a:extLst>
              <a:ext uri="{FF2B5EF4-FFF2-40B4-BE49-F238E27FC236}">
                <a16:creationId xmlns:a16="http://schemas.microsoft.com/office/drawing/2014/main" id="{878AA550-0F9C-BEB7-C0FC-857A0C30A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5641" y="6356351"/>
            <a:ext cx="6085184" cy="365125"/>
          </a:xfrm>
        </p:spPr>
        <p:txBody>
          <a:bodyPr/>
          <a:lstStyle/>
          <a:p>
            <a:r>
              <a:rPr lang="pt-BR" dirty="0"/>
              <a:t>Programa de Residência em Inteligência Artificial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0BF016C0-F9AE-8920-2910-8C0E6646E2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6221" y="4934498"/>
            <a:ext cx="2958998" cy="2958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C6E4B44-EE85-F2E3-0433-46872E9C8D92}"/>
              </a:ext>
            </a:extLst>
          </p:cNvPr>
          <p:cNvSpPr txBox="1"/>
          <p:nvPr/>
        </p:nvSpPr>
        <p:spPr>
          <a:xfrm>
            <a:off x="491716" y="1352950"/>
            <a:ext cx="11377264" cy="4152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pt-BR" sz="2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Relevância Crítica do Tema em Minas Gerais e no Brasil</a:t>
            </a:r>
            <a:endParaRPr lang="pt-BR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pt-BR" sz="2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Identificação de "</a:t>
            </a:r>
            <a:r>
              <a:rPr lang="pt-BR" sz="2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Hotspots</a:t>
            </a:r>
            <a:r>
              <a:rPr lang="pt-BR" sz="2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" de Risco</a:t>
            </a:r>
            <a:endParaRPr lang="pt-BR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pt-BR" sz="2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Desenvolvimento Socioeconômico aumento da Violência </a:t>
            </a:r>
            <a:endParaRPr lang="pt-BR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pt-BR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BR" sz="2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Fatores Preditivos Mais Influentes</a:t>
            </a:r>
            <a:endParaRPr lang="pt-BR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pt-BR" sz="2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 Desafio da Predição e a Complexidade do Fenômeno</a:t>
            </a:r>
            <a:endParaRPr lang="pt-BR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pt-BR" sz="2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Direcionamento para Ações Preventivas</a:t>
            </a:r>
            <a:endParaRPr lang="pt-BR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49580" indent="-44958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pt-BR" sz="2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Necessidade de Enriquecimento dos Dados</a:t>
            </a:r>
            <a:endParaRPr lang="pt-BR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55179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EEEA4E2E-5BB2-3E68-ADE9-9DDED86B1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360696" cy="6858000"/>
          </a:xfrm>
          <a:prstGeom prst="rect">
            <a:avLst/>
          </a:prstGeom>
        </p:spPr>
      </p:pic>
      <p:sp>
        <p:nvSpPr>
          <p:cNvPr id="11" name="Título 1"/>
          <p:cNvSpPr>
            <a:spLocks noGrp="1"/>
          </p:cNvSpPr>
          <p:nvPr>
            <p:ph type="title"/>
          </p:nvPr>
        </p:nvSpPr>
        <p:spPr>
          <a:xfrm>
            <a:off x="1981200" y="297011"/>
            <a:ext cx="8229600" cy="868523"/>
          </a:xfrm>
        </p:spPr>
        <p:txBody>
          <a:bodyPr>
            <a:normAutofit fontScale="90000"/>
          </a:bodyPr>
          <a:lstStyle/>
          <a:p>
            <a:r>
              <a:rPr lang="pt-BR" sz="3000" b="1" dirty="0"/>
              <a:t>Referências Bibliografia</a:t>
            </a:r>
            <a:br>
              <a:rPr lang="pt-BR" sz="3000" b="1" dirty="0"/>
            </a:br>
            <a:endParaRPr lang="pt-BR" sz="3000" b="1" dirty="0"/>
          </a:p>
        </p:txBody>
      </p:sp>
      <p:sp>
        <p:nvSpPr>
          <p:cNvPr id="2" name="Espaço Reservado para Rodapé 7">
            <a:extLst>
              <a:ext uri="{FF2B5EF4-FFF2-40B4-BE49-F238E27FC236}">
                <a16:creationId xmlns:a16="http://schemas.microsoft.com/office/drawing/2014/main" id="{4FC988C9-7744-1AFC-83D8-337E45D13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5641" y="6356351"/>
            <a:ext cx="6085184" cy="365125"/>
          </a:xfrm>
        </p:spPr>
        <p:txBody>
          <a:bodyPr/>
          <a:lstStyle/>
          <a:p>
            <a:r>
              <a:rPr lang="pt-BR" dirty="0"/>
              <a:t>Programa de Residência em Inteligência Artificial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EB18F40-AB6A-A026-A60A-0AEFBCBCFA9C}"/>
              </a:ext>
            </a:extLst>
          </p:cNvPr>
          <p:cNvSpPr txBox="1"/>
          <p:nvPr/>
        </p:nvSpPr>
        <p:spPr>
          <a:xfrm>
            <a:off x="263352" y="930315"/>
            <a:ext cx="1166529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TRIBUNAL DE JUSTIÇA DO ESTADO DO PARANÁ. </a:t>
            </a:r>
            <a:r>
              <a:rPr lang="pt-BR" sz="1400" i="1" dirty="0"/>
              <a:t>Feminicídio</a:t>
            </a:r>
            <a:r>
              <a:rPr lang="pt-BR" sz="1400" dirty="0"/>
              <a:t>. Disponível em: </a:t>
            </a:r>
            <a:r>
              <a:rPr lang="pt-BR" sz="14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https://www.tjpr.jus.br/web/</a:t>
            </a:r>
            <a:r>
              <a:rPr lang="pt-BR" sz="1400" dirty="0" err="1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cevid</a:t>
            </a:r>
            <a:r>
              <a:rPr lang="pt-BR" sz="14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pt-BR" sz="1400" dirty="0" err="1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feminicidio</a:t>
            </a:r>
            <a:r>
              <a:rPr lang="pt-BR" sz="1400" dirty="0"/>
              <a:t>. Acesso em: 6 ago. 2025.</a:t>
            </a:r>
          </a:p>
          <a:p>
            <a:endParaRPr lang="pt-BR" sz="1400" dirty="0"/>
          </a:p>
          <a:p>
            <a:r>
              <a:rPr lang="pt-BR" sz="1400" dirty="0"/>
              <a:t>PARANÁ (Estado). Protocolo para investigar, processar e julgar com perspectiva de gênero as mortes violentas de mulheres (Feminicídios) no Paraná [livro eletrônico]. Curitiba: Governo do Estado do Paraná, 2021. Disponível em: </a:t>
            </a:r>
            <a:r>
              <a:rPr lang="pt-BR" sz="14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https://www.tjpr.jus.br/</a:t>
            </a:r>
            <a:r>
              <a:rPr lang="pt-BR" sz="1400" dirty="0" err="1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documents</a:t>
            </a:r>
            <a:r>
              <a:rPr lang="pt-BR" sz="14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/12054912/0/E-Book+Feminicidio_.pdf/ac1f1e60-ee0b-8d83-b191-78a7d99d6269</a:t>
            </a:r>
            <a:r>
              <a:rPr lang="pt-BR" sz="1400" dirty="0"/>
              <a:t>. Acesso em: 6 ago. 2025.</a:t>
            </a:r>
          </a:p>
          <a:p>
            <a:endParaRPr lang="pt-BR" sz="1400" dirty="0"/>
          </a:p>
          <a:p>
            <a:r>
              <a:rPr lang="pt-BR" sz="1400" dirty="0"/>
              <a:t>WAISELFISZ, </a:t>
            </a:r>
            <a:r>
              <a:rPr lang="pt-BR" sz="1400" dirty="0" err="1"/>
              <a:t>Julio</a:t>
            </a:r>
            <a:r>
              <a:rPr lang="pt-BR" sz="1400" dirty="0"/>
              <a:t> Jacobo. Mapa da Violência 2015: homicídio de mulheres no Brasil. Brasília: </a:t>
            </a:r>
            <a:r>
              <a:rPr lang="pt-BR" sz="1400" dirty="0" err="1"/>
              <a:t>Flacso</a:t>
            </a:r>
            <a:r>
              <a:rPr lang="pt-BR" sz="1400" dirty="0"/>
              <a:t> Brasil, 2015.</a:t>
            </a:r>
          </a:p>
          <a:p>
            <a:endParaRPr lang="pt-BR" sz="1400" dirty="0"/>
          </a:p>
          <a:p>
            <a:r>
              <a:rPr lang="pt-BR" sz="1400" dirty="0"/>
              <a:t>BRASIL. Ministério das Mulheres. Relatório Anual Socioeconômico da Mulher – RASEAM 2025. Brasília: Ministério das Mulheres, 2025. Disponível em: </a:t>
            </a:r>
            <a:r>
              <a:rPr lang="pt-BR" sz="1400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https://www.gov.br/mulheres/</a:t>
            </a:r>
            <a:r>
              <a:rPr lang="pt-BR" sz="1400" dirty="0" err="1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pt-br</a:t>
            </a:r>
            <a:r>
              <a:rPr lang="pt-BR" sz="1400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/central-de-</a:t>
            </a:r>
            <a:r>
              <a:rPr lang="pt-BR" sz="1400" dirty="0" err="1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conteudos</a:t>
            </a:r>
            <a:r>
              <a:rPr lang="pt-BR" sz="1400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pt-BR" sz="1400" dirty="0" err="1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publicacoes</a:t>
            </a:r>
            <a:r>
              <a:rPr lang="pt-BR" sz="1400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/raseam-2025.pdf/</a:t>
            </a:r>
            <a:r>
              <a:rPr lang="pt-BR" sz="1400" dirty="0" err="1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</a:t>
            </a:r>
            <a:r>
              <a:rPr lang="pt-BR" sz="1400" dirty="0"/>
              <a:t>. Acesso em: ago. 2025.</a:t>
            </a:r>
          </a:p>
          <a:p>
            <a:endParaRPr lang="pt-BR" sz="1400" dirty="0"/>
          </a:p>
          <a:p>
            <a:r>
              <a:rPr lang="pt-BR" sz="1400" dirty="0"/>
              <a:t>INSTITUTO PATRÍCIA GALVÃO. O que é feminicídio? In: Dossiê Feminicídio. [</a:t>
            </a:r>
            <a:r>
              <a:rPr lang="pt-BR" sz="1400" dirty="0" err="1"/>
              <a:t>S.l</a:t>
            </a:r>
            <a:r>
              <a:rPr lang="pt-BR" sz="1400" dirty="0"/>
              <a:t>.]: Instituto Patrícia Galvão, [s.d.]. Disponível em: </a:t>
            </a:r>
            <a:r>
              <a:rPr lang="pt-BR" sz="1400" dirty="0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https://dossies.agenciapatriciagalvao.org.br/</a:t>
            </a:r>
            <a:r>
              <a:rPr lang="pt-BR" sz="1400" dirty="0" err="1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feminicidio</a:t>
            </a:r>
            <a:r>
              <a:rPr lang="pt-BR" sz="1400" dirty="0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pt-BR" sz="1400" dirty="0" err="1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capitulos</a:t>
            </a:r>
            <a:r>
              <a:rPr lang="pt-BR" sz="1400" dirty="0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/o-que-e-</a:t>
            </a:r>
            <a:r>
              <a:rPr lang="pt-BR" sz="1400" dirty="0" err="1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feminicidio</a:t>
            </a:r>
            <a:r>
              <a:rPr lang="pt-BR" sz="1400" dirty="0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pt-BR" sz="1400" dirty="0"/>
              <a:t>. Acesso em: ago. 2025.</a:t>
            </a:r>
          </a:p>
          <a:p>
            <a:endParaRPr lang="pt-BR" sz="1400" dirty="0"/>
          </a:p>
          <a:p>
            <a:r>
              <a:rPr lang="pt-BR" sz="1400" dirty="0"/>
              <a:t>UNIVERSIDADE ESTADUAL DE LONDRINA (UEL). Monitor de Feminicídios no Brasil. Londrina: LESFEM/UEL, [s.d.]. Disponível em: </a:t>
            </a:r>
            <a:r>
              <a:rPr lang="pt-BR" sz="1400" dirty="0"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https://sites.uel.br/</a:t>
            </a:r>
            <a:r>
              <a:rPr lang="pt-BR" sz="1400" dirty="0" err="1"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lesfem</a:t>
            </a:r>
            <a:r>
              <a:rPr lang="pt-BR" sz="1400" dirty="0"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/monitor-brasil/</a:t>
            </a:r>
            <a:r>
              <a:rPr lang="pt-BR" sz="1400" dirty="0"/>
              <a:t>. Acesso em: 7 ago. 2025.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DD07E98F-DF62-936F-023C-F50629127B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6221" y="4934498"/>
            <a:ext cx="2958998" cy="2958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61422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7985</TotalTime>
  <Words>1313</Words>
  <Application>Microsoft Office PowerPoint</Application>
  <PresentationFormat>Widescreen</PresentationFormat>
  <Paragraphs>165</Paragraphs>
  <Slides>29</Slides>
  <Notes>29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29</vt:i4>
      </vt:variant>
    </vt:vector>
  </HeadingPairs>
  <TitlesOfParts>
    <vt:vector size="35" baseType="lpstr">
      <vt:lpstr>Aptos</vt:lpstr>
      <vt:lpstr>Arial</vt:lpstr>
      <vt:lpstr>Calibri</vt:lpstr>
      <vt:lpstr>Google Sans</vt:lpstr>
      <vt:lpstr>Wingdings</vt:lpstr>
      <vt:lpstr>Tema do Office</vt:lpstr>
      <vt:lpstr>  Análise de Indicadores Socioeconômicos e a Violência contra a Mulher no estado de Minas Gerais: Uma Abordagem com Big Data e Mineração de Dados   </vt:lpstr>
      <vt:lpstr>1. Definição do Problema e Escopo – Contextualização </vt:lpstr>
      <vt:lpstr>1. Definição do Problema e Escopo – Contextualização </vt:lpstr>
      <vt:lpstr>1. Definição do Problema e Escopo – Contextualização </vt:lpstr>
      <vt:lpstr>1. Definição do Problema e Escopo </vt:lpstr>
      <vt:lpstr>1. Definição do Problema e Escopo - Métricas/KPIs </vt:lpstr>
      <vt:lpstr>2. Fontes de Dados </vt:lpstr>
      <vt:lpstr>2. Fontes de Dados - Dados brutos</vt:lpstr>
      <vt:lpstr>Apresentação do PowerPoint</vt:lpstr>
      <vt:lpstr>Apresentação do PowerPoint</vt:lpstr>
      <vt:lpstr>2. Fontes de Dados </vt:lpstr>
      <vt:lpstr>3. Exploração e Análise Descritiva </vt:lpstr>
      <vt:lpstr>3. Exploração e Análise Descritiva </vt:lpstr>
      <vt:lpstr>3. Exploração e Análise Descritiva </vt:lpstr>
      <vt:lpstr>3. Exploração e Análise Descritiva </vt:lpstr>
      <vt:lpstr>3. Exploração e Análise Descritiva </vt:lpstr>
      <vt:lpstr>3. Exploração e Análise Descritiva </vt:lpstr>
      <vt:lpstr>3. Exploração e Análise Descritiva </vt:lpstr>
      <vt:lpstr>3. Exploração e Análise Descritiva </vt:lpstr>
      <vt:lpstr>3. Exploração e Análise Descritiva </vt:lpstr>
      <vt:lpstr>3. Exploração e Análise Descritiva </vt:lpstr>
      <vt:lpstr>3. Exploração e Análise Descritiva </vt:lpstr>
      <vt:lpstr>4. Recomendações e Insights </vt:lpstr>
      <vt:lpstr>4. Recomendações e Insights </vt:lpstr>
      <vt:lpstr>4. Insights e Conclusões  </vt:lpstr>
      <vt:lpstr>4. Recomendações e Insights </vt:lpstr>
      <vt:lpstr>4. Recomendações e Insights </vt:lpstr>
      <vt:lpstr>4. Recomendações e Insights </vt:lpstr>
      <vt:lpstr>Referências Bibliografia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Título: Modelo de Apresentação</dc:title>
  <dc:creator>Raul</dc:creator>
  <cp:lastModifiedBy>Patrik Lima Pereira</cp:lastModifiedBy>
  <cp:revision>590</cp:revision>
  <dcterms:created xsi:type="dcterms:W3CDTF">2012-03-23T17:40:35Z</dcterms:created>
  <dcterms:modified xsi:type="dcterms:W3CDTF">2025-08-07T21:55:58Z</dcterms:modified>
</cp:coreProperties>
</file>